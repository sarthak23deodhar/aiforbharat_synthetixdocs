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5B0BC0-9261-4DB6-B2E6-DF4D2FA39655}" type="doc">
      <dgm:prSet loTypeId="urn:microsoft.com/office/officeart/2005/8/layout/vList3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IN"/>
        </a:p>
      </dgm:t>
    </dgm:pt>
    <dgm:pt modelId="{6A9DBBE9-BD9F-4738-8652-DDD37ADA4525}">
      <dgm:prSet/>
      <dgm:spPr/>
      <dgm:t>
        <a:bodyPr/>
        <a:lstStyle/>
        <a:p>
          <a:r>
            <a:rPr lang="en-IN" b="1" i="0" dirty="0"/>
            <a:t>Multilingual Semantic Search:</a:t>
          </a:r>
          <a:r>
            <a:rPr lang="en-IN" b="0" i="0" dirty="0"/>
            <a:t> Query technical documentation in </a:t>
          </a:r>
          <a:r>
            <a:rPr lang="en-IN" b="1" i="0" dirty="0"/>
            <a:t>20+ Indian languages</a:t>
          </a:r>
          <a:r>
            <a:rPr lang="en-IN" b="0" i="0" dirty="0"/>
            <a:t> with &gt;90% accuracy using Amazon Bedrock.</a:t>
          </a:r>
          <a:endParaRPr lang="en-IN" dirty="0"/>
        </a:p>
      </dgm:t>
    </dgm:pt>
    <dgm:pt modelId="{3A9B6278-B0AB-492B-8D99-B2CE93621F22}" type="parTrans" cxnId="{DC23B5A6-19AA-45B0-8657-6E8189956B5A}">
      <dgm:prSet/>
      <dgm:spPr/>
      <dgm:t>
        <a:bodyPr/>
        <a:lstStyle/>
        <a:p>
          <a:endParaRPr lang="en-IN"/>
        </a:p>
      </dgm:t>
    </dgm:pt>
    <dgm:pt modelId="{0BDEAEC3-6DCE-4ABF-81F7-C70D059CEC69}" type="sibTrans" cxnId="{DC23B5A6-19AA-45B0-8657-6E8189956B5A}">
      <dgm:prSet/>
      <dgm:spPr/>
      <dgm:t>
        <a:bodyPr/>
        <a:lstStyle/>
        <a:p>
          <a:endParaRPr lang="en-IN"/>
        </a:p>
      </dgm:t>
    </dgm:pt>
    <dgm:pt modelId="{11B93517-3AEA-43C6-B82B-5CEA75BCB7C7}">
      <dgm:prSet/>
      <dgm:spPr/>
      <dgm:t>
        <a:bodyPr/>
        <a:lstStyle/>
        <a:p>
          <a:r>
            <a:rPr lang="en-IN" b="1" i="0" dirty="0"/>
            <a:t>Autonomous Wiki &amp; Mapper:</a:t>
          </a:r>
          <a:r>
            <a:rPr lang="en-IN" b="0" i="0" dirty="0"/>
            <a:t> Automatically regenerates the entire documentation portal and live </a:t>
          </a:r>
          <a:r>
            <a:rPr lang="en-IN" b="1" i="0" dirty="0"/>
            <a:t>Mermaid.js architecture diagrams</a:t>
          </a:r>
          <a:r>
            <a:rPr lang="en-IN" b="0" i="0" dirty="0"/>
            <a:t> within 5 minutes of a Git push.</a:t>
          </a:r>
          <a:endParaRPr lang="en-IN" dirty="0"/>
        </a:p>
      </dgm:t>
    </dgm:pt>
    <dgm:pt modelId="{60CB6AA9-8493-41B3-A21D-251AD3F7C4F6}" type="parTrans" cxnId="{09D3891F-05CD-4B54-A206-50DAB4313F82}">
      <dgm:prSet/>
      <dgm:spPr/>
      <dgm:t>
        <a:bodyPr/>
        <a:lstStyle/>
        <a:p>
          <a:endParaRPr lang="en-IN"/>
        </a:p>
      </dgm:t>
    </dgm:pt>
    <dgm:pt modelId="{739CAEBD-0312-4AA6-AAD2-AC3925782698}" type="sibTrans" cxnId="{09D3891F-05CD-4B54-A206-50DAB4313F82}">
      <dgm:prSet/>
      <dgm:spPr/>
      <dgm:t>
        <a:bodyPr/>
        <a:lstStyle/>
        <a:p>
          <a:endParaRPr lang="en-IN"/>
        </a:p>
      </dgm:t>
    </dgm:pt>
    <dgm:pt modelId="{8190FF06-8C5D-4850-9148-8DA07295D630}">
      <dgm:prSet/>
      <dgm:spPr/>
      <dgm:t>
        <a:bodyPr/>
        <a:lstStyle/>
        <a:p>
          <a:r>
            <a:rPr lang="en-IN" b="1" i="0"/>
            <a:t>The Bharat Explainer:</a:t>
          </a:r>
          <a:r>
            <a:rPr lang="en-IN" b="0" i="0"/>
            <a:t> Generates 60-second </a:t>
          </a:r>
          <a:r>
            <a:rPr lang="en-IN" b="1" i="0"/>
            <a:t>neural audio walkthroughs</a:t>
          </a:r>
          <a:r>
            <a:rPr lang="en-IN" b="0" i="0"/>
            <a:t> of code logic in 10+ Indic languages (Hindi, Marathi, Tamil, etc.).</a:t>
          </a:r>
          <a:endParaRPr lang="en-IN"/>
        </a:p>
      </dgm:t>
    </dgm:pt>
    <dgm:pt modelId="{4AB7B9C7-07E3-4450-A5BD-F6A9C48B1879}" type="parTrans" cxnId="{F8D42737-B933-41C8-9431-E6D11D5EC34A}">
      <dgm:prSet/>
      <dgm:spPr/>
      <dgm:t>
        <a:bodyPr/>
        <a:lstStyle/>
        <a:p>
          <a:endParaRPr lang="en-IN"/>
        </a:p>
      </dgm:t>
    </dgm:pt>
    <dgm:pt modelId="{04A12E2F-9212-4FC5-BFB2-3F2EED07A950}" type="sibTrans" cxnId="{F8D42737-B933-41C8-9431-E6D11D5EC34A}">
      <dgm:prSet/>
      <dgm:spPr/>
      <dgm:t>
        <a:bodyPr/>
        <a:lstStyle/>
        <a:p>
          <a:endParaRPr lang="en-IN"/>
        </a:p>
      </dgm:t>
    </dgm:pt>
    <dgm:pt modelId="{795B84DB-0BA2-4E99-8EC1-0E43955E2250}">
      <dgm:prSet/>
      <dgm:spPr/>
      <dgm:t>
        <a:bodyPr/>
        <a:lstStyle/>
        <a:p>
          <a:r>
            <a:rPr lang="en-IN" b="1" i="0" dirty="0"/>
            <a:t>Bhasha-Chat Widget:</a:t>
          </a:r>
          <a:r>
            <a:rPr lang="en-IN" b="0" i="0" dirty="0"/>
            <a:t> An embeddable </a:t>
          </a:r>
          <a:r>
            <a:rPr lang="en-IN" b="1" i="0" dirty="0"/>
            <a:t>RAG-based chat widget</a:t>
          </a:r>
          <a:r>
            <a:rPr lang="en-IN" b="0" i="0" dirty="0"/>
            <a:t> that allows developers to ask "What does this code do?" in their native language.</a:t>
          </a:r>
          <a:endParaRPr lang="en-IN" dirty="0"/>
        </a:p>
      </dgm:t>
    </dgm:pt>
    <dgm:pt modelId="{DF043DFC-B771-4A95-9EFF-61F0C87EB6ED}" type="parTrans" cxnId="{1AEA17D6-EB1B-49E3-B95D-627B4D31F846}">
      <dgm:prSet/>
      <dgm:spPr/>
      <dgm:t>
        <a:bodyPr/>
        <a:lstStyle/>
        <a:p>
          <a:endParaRPr lang="en-IN"/>
        </a:p>
      </dgm:t>
    </dgm:pt>
    <dgm:pt modelId="{FADF549C-F06E-4ECA-8790-2ECDD1011C43}" type="sibTrans" cxnId="{1AEA17D6-EB1B-49E3-B95D-627B4D31F846}">
      <dgm:prSet/>
      <dgm:spPr/>
      <dgm:t>
        <a:bodyPr/>
        <a:lstStyle/>
        <a:p>
          <a:endParaRPr lang="en-IN"/>
        </a:p>
      </dgm:t>
    </dgm:pt>
    <dgm:pt modelId="{39033143-DE06-4A78-BCFE-220178994240}">
      <dgm:prSet/>
      <dgm:spPr/>
      <dgm:t>
        <a:bodyPr/>
        <a:lstStyle/>
        <a:p>
          <a:r>
            <a:rPr lang="en-IN" b="1" i="0"/>
            <a:t>Suraksha-Audit:</a:t>
          </a:r>
          <a:r>
            <a:rPr lang="en-IN" b="0" i="0"/>
            <a:t> A security scanner that detects vulnerabilities (OWASP Top 10, secrets) and automatically writes </a:t>
          </a:r>
          <a:r>
            <a:rPr lang="en-IN" b="1" i="0"/>
            <a:t>Security Advisories</a:t>
          </a:r>
          <a:r>
            <a:rPr lang="en-IN" b="0" i="0"/>
            <a:t>.</a:t>
          </a:r>
          <a:endParaRPr lang="en-IN"/>
        </a:p>
      </dgm:t>
    </dgm:pt>
    <dgm:pt modelId="{5B85910A-C1FA-46A2-B00B-B05BCBCECFAB}" type="parTrans" cxnId="{028431AC-0A26-4E57-8D84-F96A0D8275AC}">
      <dgm:prSet/>
      <dgm:spPr/>
      <dgm:t>
        <a:bodyPr/>
        <a:lstStyle/>
        <a:p>
          <a:endParaRPr lang="en-IN"/>
        </a:p>
      </dgm:t>
    </dgm:pt>
    <dgm:pt modelId="{3B951003-7B0E-430A-A5A6-E8293CC71410}" type="sibTrans" cxnId="{028431AC-0A26-4E57-8D84-F96A0D8275AC}">
      <dgm:prSet/>
      <dgm:spPr/>
      <dgm:t>
        <a:bodyPr/>
        <a:lstStyle/>
        <a:p>
          <a:endParaRPr lang="en-IN"/>
        </a:p>
      </dgm:t>
    </dgm:pt>
    <dgm:pt modelId="{6BBC8B1E-6378-42F7-81D2-8F4322C1D383}">
      <dgm:prSet/>
      <dgm:spPr/>
      <dgm:t>
        <a:bodyPr/>
        <a:lstStyle/>
        <a:p>
          <a:r>
            <a:rPr lang="en-IN" b="1" i="0"/>
            <a:t>Skill-Adaptive Content:</a:t>
          </a:r>
          <a:r>
            <a:rPr lang="en-IN" b="0" i="0"/>
            <a:t> A dynamic toggle that switches documentation depth between </a:t>
          </a:r>
          <a:r>
            <a:rPr lang="en-IN" b="1" i="0"/>
            <a:t>"Junior"</a:t>
          </a:r>
          <a:r>
            <a:rPr lang="en-IN" b="0" i="0"/>
            <a:t> (step-by-step) and </a:t>
          </a:r>
          <a:r>
            <a:rPr lang="en-IN" b="1" i="0"/>
            <a:t>"Senior"</a:t>
          </a:r>
          <a:r>
            <a:rPr lang="en-IN" b="0" i="0"/>
            <a:t> (architecture patterns) views.</a:t>
          </a:r>
          <a:endParaRPr lang="en-IN"/>
        </a:p>
      </dgm:t>
    </dgm:pt>
    <dgm:pt modelId="{A2AAD068-61A0-4849-8E2F-4B44DF91BE8C}" type="parTrans" cxnId="{11FD3038-DC42-4495-AEC7-77BAACB6361E}">
      <dgm:prSet/>
      <dgm:spPr/>
      <dgm:t>
        <a:bodyPr/>
        <a:lstStyle/>
        <a:p>
          <a:endParaRPr lang="en-IN"/>
        </a:p>
      </dgm:t>
    </dgm:pt>
    <dgm:pt modelId="{FBBCAB21-69BA-4C6B-A6AD-DE456E8A66B9}" type="sibTrans" cxnId="{11FD3038-DC42-4495-AEC7-77BAACB6361E}">
      <dgm:prSet/>
      <dgm:spPr/>
      <dgm:t>
        <a:bodyPr/>
        <a:lstStyle/>
        <a:p>
          <a:endParaRPr lang="en-IN"/>
        </a:p>
      </dgm:t>
    </dgm:pt>
    <dgm:pt modelId="{555A72DF-D50C-495D-A92F-3E40023C8635}" type="pres">
      <dgm:prSet presAssocID="{215B0BC0-9261-4DB6-B2E6-DF4D2FA39655}" presName="linearFlow" presStyleCnt="0">
        <dgm:presLayoutVars>
          <dgm:dir/>
          <dgm:resizeHandles val="exact"/>
        </dgm:presLayoutVars>
      </dgm:prSet>
      <dgm:spPr/>
    </dgm:pt>
    <dgm:pt modelId="{4DABAE62-4F4F-41D4-8A1D-7DFA37E5724E}" type="pres">
      <dgm:prSet presAssocID="{6A9DBBE9-BD9F-4738-8652-DDD37ADA4525}" presName="composite" presStyleCnt="0"/>
      <dgm:spPr/>
    </dgm:pt>
    <dgm:pt modelId="{3272842F-5A2A-4AC2-87A5-7A281B085340}" type="pres">
      <dgm:prSet presAssocID="{6A9DBBE9-BD9F-4738-8652-DDD37ADA4525}" presName="imgShp" presStyleLbl="fgImgPlace1" presStyleIdx="0" presStyleCnt="6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 with solid fill"/>
        </a:ext>
      </dgm:extLst>
    </dgm:pt>
    <dgm:pt modelId="{8B141609-88BB-4872-BEC1-D5FE548082A2}" type="pres">
      <dgm:prSet presAssocID="{6A9DBBE9-BD9F-4738-8652-DDD37ADA4525}" presName="txShp" presStyleLbl="node1" presStyleIdx="0" presStyleCnt="6">
        <dgm:presLayoutVars>
          <dgm:bulletEnabled val="1"/>
        </dgm:presLayoutVars>
      </dgm:prSet>
      <dgm:spPr/>
    </dgm:pt>
    <dgm:pt modelId="{DB93F03A-B505-49A8-ACF3-B7F54336A49F}" type="pres">
      <dgm:prSet presAssocID="{0BDEAEC3-6DCE-4ABF-81F7-C70D059CEC69}" presName="spacing" presStyleCnt="0"/>
      <dgm:spPr/>
    </dgm:pt>
    <dgm:pt modelId="{05EFF0C2-7968-4D49-A631-E77DCFA1315B}" type="pres">
      <dgm:prSet presAssocID="{11B93517-3AEA-43C6-B82B-5CEA75BCB7C7}" presName="composite" presStyleCnt="0"/>
      <dgm:spPr/>
    </dgm:pt>
    <dgm:pt modelId="{E7C55309-A89D-44BB-8559-2853F3127C06}" type="pres">
      <dgm:prSet presAssocID="{11B93517-3AEA-43C6-B82B-5CEA75BCB7C7}" presName="imgShp" presStyleLbl="fgImgPlace1" presStyleIdx="1" presStyleCnt="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 with solid fill"/>
        </a:ext>
      </dgm:extLst>
    </dgm:pt>
    <dgm:pt modelId="{F5E0E54F-FE7C-4CF2-812E-3F8B63B1EBAB}" type="pres">
      <dgm:prSet presAssocID="{11B93517-3AEA-43C6-B82B-5CEA75BCB7C7}" presName="txShp" presStyleLbl="node1" presStyleIdx="1" presStyleCnt="6">
        <dgm:presLayoutVars>
          <dgm:bulletEnabled val="1"/>
        </dgm:presLayoutVars>
      </dgm:prSet>
      <dgm:spPr/>
    </dgm:pt>
    <dgm:pt modelId="{2F68AAE3-4FD4-4AC0-AE2B-6EA8B89B5BCE}" type="pres">
      <dgm:prSet presAssocID="{739CAEBD-0312-4AA6-AAD2-AC3925782698}" presName="spacing" presStyleCnt="0"/>
      <dgm:spPr/>
    </dgm:pt>
    <dgm:pt modelId="{9B71A11B-E101-48B9-9BE8-84A2EB07A55F}" type="pres">
      <dgm:prSet presAssocID="{8190FF06-8C5D-4850-9148-8DA07295D630}" presName="composite" presStyleCnt="0"/>
      <dgm:spPr/>
    </dgm:pt>
    <dgm:pt modelId="{97324577-62D0-4117-9863-DF457F18EB7B}" type="pres">
      <dgm:prSet presAssocID="{8190FF06-8C5D-4850-9148-8DA07295D630}" presName="imgShp" presStyleLbl="fgImgPlac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 with solid fill"/>
        </a:ext>
      </dgm:extLst>
    </dgm:pt>
    <dgm:pt modelId="{45D7B2E0-97AC-4053-838A-5DE694B51A7B}" type="pres">
      <dgm:prSet presAssocID="{8190FF06-8C5D-4850-9148-8DA07295D630}" presName="txShp" presStyleLbl="node1" presStyleIdx="2" presStyleCnt="6">
        <dgm:presLayoutVars>
          <dgm:bulletEnabled val="1"/>
        </dgm:presLayoutVars>
      </dgm:prSet>
      <dgm:spPr/>
    </dgm:pt>
    <dgm:pt modelId="{0251436B-111A-48A0-BFB4-AB42DC37515A}" type="pres">
      <dgm:prSet presAssocID="{04A12E2F-9212-4FC5-BFB2-3F2EED07A950}" presName="spacing" presStyleCnt="0"/>
      <dgm:spPr/>
    </dgm:pt>
    <dgm:pt modelId="{F21F6041-463B-43A5-86C7-858AA01C6B6E}" type="pres">
      <dgm:prSet presAssocID="{795B84DB-0BA2-4E99-8EC1-0E43955E2250}" presName="composite" presStyleCnt="0"/>
      <dgm:spPr/>
    </dgm:pt>
    <dgm:pt modelId="{A5C225EE-0572-4131-B9DF-9A09E351145C}" type="pres">
      <dgm:prSet presAssocID="{795B84DB-0BA2-4E99-8EC1-0E43955E2250}" presName="imgShp" presStyleLbl="fgImgPlace1" presStyleIdx="3" presStyleCnt="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with solid fill"/>
        </a:ext>
      </dgm:extLst>
    </dgm:pt>
    <dgm:pt modelId="{66A8EBAF-73A5-4B3B-B79B-820B3C74385D}" type="pres">
      <dgm:prSet presAssocID="{795B84DB-0BA2-4E99-8EC1-0E43955E2250}" presName="txShp" presStyleLbl="node1" presStyleIdx="3" presStyleCnt="6">
        <dgm:presLayoutVars>
          <dgm:bulletEnabled val="1"/>
        </dgm:presLayoutVars>
      </dgm:prSet>
      <dgm:spPr/>
    </dgm:pt>
    <dgm:pt modelId="{0DBA23D8-C2C7-4B3C-9F32-BEB791F41CA4}" type="pres">
      <dgm:prSet presAssocID="{FADF549C-F06E-4ECA-8790-2ECDD1011C43}" presName="spacing" presStyleCnt="0"/>
      <dgm:spPr/>
    </dgm:pt>
    <dgm:pt modelId="{C0C0F98B-70E8-4E82-A786-D9EA38825419}" type="pres">
      <dgm:prSet presAssocID="{39033143-DE06-4A78-BCFE-220178994240}" presName="composite" presStyleCnt="0"/>
      <dgm:spPr/>
    </dgm:pt>
    <dgm:pt modelId="{DD53833A-B1D5-44DD-9AF5-C6AE30715905}" type="pres">
      <dgm:prSet presAssocID="{39033143-DE06-4A78-BCFE-220178994240}" presName="imgShp" presStyleLbl="fgImgPlace1" presStyleIdx="4" presStyleCnt="6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w Vision with solid fill"/>
        </a:ext>
      </dgm:extLst>
    </dgm:pt>
    <dgm:pt modelId="{B43E2AE7-E3FA-4128-A53E-D1B07AF57CF8}" type="pres">
      <dgm:prSet presAssocID="{39033143-DE06-4A78-BCFE-220178994240}" presName="txShp" presStyleLbl="node1" presStyleIdx="4" presStyleCnt="6">
        <dgm:presLayoutVars>
          <dgm:bulletEnabled val="1"/>
        </dgm:presLayoutVars>
      </dgm:prSet>
      <dgm:spPr/>
    </dgm:pt>
    <dgm:pt modelId="{8DC8A1D3-E5E6-4A65-84C1-D0B8A8850B46}" type="pres">
      <dgm:prSet presAssocID="{3B951003-7B0E-430A-A5A6-E8293CC71410}" presName="spacing" presStyleCnt="0"/>
      <dgm:spPr/>
    </dgm:pt>
    <dgm:pt modelId="{617F49A7-F6B4-4BCA-884A-52D9F7A0864C}" type="pres">
      <dgm:prSet presAssocID="{6BBC8B1E-6378-42F7-81D2-8F4322C1D383}" presName="composite" presStyleCnt="0"/>
      <dgm:spPr/>
    </dgm:pt>
    <dgm:pt modelId="{7C3EAF43-6897-4F71-971D-EA8353907D9E}" type="pres">
      <dgm:prSet presAssocID="{6BBC8B1E-6378-42F7-81D2-8F4322C1D383}" presName="imgShp" presStyleLbl="fgImgPlace1" presStyleIdx="5" presStyleCnt="6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4E74F5AE-D3D2-4D3D-A0EE-B093744C0029}" type="pres">
      <dgm:prSet presAssocID="{6BBC8B1E-6378-42F7-81D2-8F4322C1D383}" presName="txShp" presStyleLbl="node1" presStyleIdx="5" presStyleCnt="6">
        <dgm:presLayoutVars>
          <dgm:bulletEnabled val="1"/>
        </dgm:presLayoutVars>
      </dgm:prSet>
      <dgm:spPr/>
    </dgm:pt>
  </dgm:ptLst>
  <dgm:cxnLst>
    <dgm:cxn modelId="{FC8A9702-EF27-4649-A810-F6312146B8A5}" type="presOf" srcId="{11B93517-3AEA-43C6-B82B-5CEA75BCB7C7}" destId="{F5E0E54F-FE7C-4CF2-812E-3F8B63B1EBAB}" srcOrd="0" destOrd="0" presId="urn:microsoft.com/office/officeart/2005/8/layout/vList3"/>
    <dgm:cxn modelId="{06298906-7838-4242-A5E2-817F8BCB5D51}" type="presOf" srcId="{795B84DB-0BA2-4E99-8EC1-0E43955E2250}" destId="{66A8EBAF-73A5-4B3B-B79B-820B3C74385D}" srcOrd="0" destOrd="0" presId="urn:microsoft.com/office/officeart/2005/8/layout/vList3"/>
    <dgm:cxn modelId="{09D3891F-05CD-4B54-A206-50DAB4313F82}" srcId="{215B0BC0-9261-4DB6-B2E6-DF4D2FA39655}" destId="{11B93517-3AEA-43C6-B82B-5CEA75BCB7C7}" srcOrd="1" destOrd="0" parTransId="{60CB6AA9-8493-41B3-A21D-251AD3F7C4F6}" sibTransId="{739CAEBD-0312-4AA6-AAD2-AC3925782698}"/>
    <dgm:cxn modelId="{F8D42737-B933-41C8-9431-E6D11D5EC34A}" srcId="{215B0BC0-9261-4DB6-B2E6-DF4D2FA39655}" destId="{8190FF06-8C5D-4850-9148-8DA07295D630}" srcOrd="2" destOrd="0" parTransId="{4AB7B9C7-07E3-4450-A5BD-F6A9C48B1879}" sibTransId="{04A12E2F-9212-4FC5-BFB2-3F2EED07A950}"/>
    <dgm:cxn modelId="{11FD3038-DC42-4495-AEC7-77BAACB6361E}" srcId="{215B0BC0-9261-4DB6-B2E6-DF4D2FA39655}" destId="{6BBC8B1E-6378-42F7-81D2-8F4322C1D383}" srcOrd="5" destOrd="0" parTransId="{A2AAD068-61A0-4849-8E2F-4B44DF91BE8C}" sibTransId="{FBBCAB21-69BA-4C6B-A6AD-DE456E8A66B9}"/>
    <dgm:cxn modelId="{43F18977-C92B-48D6-89E2-F06075B8D72F}" type="presOf" srcId="{6BBC8B1E-6378-42F7-81D2-8F4322C1D383}" destId="{4E74F5AE-D3D2-4D3D-A0EE-B093744C0029}" srcOrd="0" destOrd="0" presId="urn:microsoft.com/office/officeart/2005/8/layout/vList3"/>
    <dgm:cxn modelId="{563D4491-76BE-4969-B0C6-D27073546DF7}" type="presOf" srcId="{8190FF06-8C5D-4850-9148-8DA07295D630}" destId="{45D7B2E0-97AC-4053-838A-5DE694B51A7B}" srcOrd="0" destOrd="0" presId="urn:microsoft.com/office/officeart/2005/8/layout/vList3"/>
    <dgm:cxn modelId="{DC23B5A6-19AA-45B0-8657-6E8189956B5A}" srcId="{215B0BC0-9261-4DB6-B2E6-DF4D2FA39655}" destId="{6A9DBBE9-BD9F-4738-8652-DDD37ADA4525}" srcOrd="0" destOrd="0" parTransId="{3A9B6278-B0AB-492B-8D99-B2CE93621F22}" sibTransId="{0BDEAEC3-6DCE-4ABF-81F7-C70D059CEC69}"/>
    <dgm:cxn modelId="{028431AC-0A26-4E57-8D84-F96A0D8275AC}" srcId="{215B0BC0-9261-4DB6-B2E6-DF4D2FA39655}" destId="{39033143-DE06-4A78-BCFE-220178994240}" srcOrd="4" destOrd="0" parTransId="{5B85910A-C1FA-46A2-B00B-B05BCBCECFAB}" sibTransId="{3B951003-7B0E-430A-A5A6-E8293CC71410}"/>
    <dgm:cxn modelId="{EE80ACAE-57D4-431E-9F61-854FF10AFAA3}" type="presOf" srcId="{6A9DBBE9-BD9F-4738-8652-DDD37ADA4525}" destId="{8B141609-88BB-4872-BEC1-D5FE548082A2}" srcOrd="0" destOrd="0" presId="urn:microsoft.com/office/officeart/2005/8/layout/vList3"/>
    <dgm:cxn modelId="{1AEA17D6-EB1B-49E3-B95D-627B4D31F846}" srcId="{215B0BC0-9261-4DB6-B2E6-DF4D2FA39655}" destId="{795B84DB-0BA2-4E99-8EC1-0E43955E2250}" srcOrd="3" destOrd="0" parTransId="{DF043DFC-B771-4A95-9EFF-61F0C87EB6ED}" sibTransId="{FADF549C-F06E-4ECA-8790-2ECDD1011C43}"/>
    <dgm:cxn modelId="{834E68D7-E379-44A7-897B-8EAE36533A10}" type="presOf" srcId="{215B0BC0-9261-4DB6-B2E6-DF4D2FA39655}" destId="{555A72DF-D50C-495D-A92F-3E40023C8635}" srcOrd="0" destOrd="0" presId="urn:microsoft.com/office/officeart/2005/8/layout/vList3"/>
    <dgm:cxn modelId="{EBA26BE3-9B0F-4D9F-80F4-6BC3C4C4039D}" type="presOf" srcId="{39033143-DE06-4A78-BCFE-220178994240}" destId="{B43E2AE7-E3FA-4128-A53E-D1B07AF57CF8}" srcOrd="0" destOrd="0" presId="urn:microsoft.com/office/officeart/2005/8/layout/vList3"/>
    <dgm:cxn modelId="{58F8F112-D961-4C44-A500-3CF95CCB9DCE}" type="presParOf" srcId="{555A72DF-D50C-495D-A92F-3E40023C8635}" destId="{4DABAE62-4F4F-41D4-8A1D-7DFA37E5724E}" srcOrd="0" destOrd="0" presId="urn:microsoft.com/office/officeart/2005/8/layout/vList3"/>
    <dgm:cxn modelId="{EB0AD944-31DC-4631-A116-B34259210AE2}" type="presParOf" srcId="{4DABAE62-4F4F-41D4-8A1D-7DFA37E5724E}" destId="{3272842F-5A2A-4AC2-87A5-7A281B085340}" srcOrd="0" destOrd="0" presId="urn:microsoft.com/office/officeart/2005/8/layout/vList3"/>
    <dgm:cxn modelId="{6D7393EE-40FA-4CF0-939B-2D56A0A97017}" type="presParOf" srcId="{4DABAE62-4F4F-41D4-8A1D-7DFA37E5724E}" destId="{8B141609-88BB-4872-BEC1-D5FE548082A2}" srcOrd="1" destOrd="0" presId="urn:microsoft.com/office/officeart/2005/8/layout/vList3"/>
    <dgm:cxn modelId="{2D547153-DB02-4B4A-AB2E-C55D26E17AFF}" type="presParOf" srcId="{555A72DF-D50C-495D-A92F-3E40023C8635}" destId="{DB93F03A-B505-49A8-ACF3-B7F54336A49F}" srcOrd="1" destOrd="0" presId="urn:microsoft.com/office/officeart/2005/8/layout/vList3"/>
    <dgm:cxn modelId="{9AF76954-0879-4484-ABB9-DC4F0A00B9BE}" type="presParOf" srcId="{555A72DF-D50C-495D-A92F-3E40023C8635}" destId="{05EFF0C2-7968-4D49-A631-E77DCFA1315B}" srcOrd="2" destOrd="0" presId="urn:microsoft.com/office/officeart/2005/8/layout/vList3"/>
    <dgm:cxn modelId="{1E849A0D-5957-4E8E-A3DD-CCCB4031B47C}" type="presParOf" srcId="{05EFF0C2-7968-4D49-A631-E77DCFA1315B}" destId="{E7C55309-A89D-44BB-8559-2853F3127C06}" srcOrd="0" destOrd="0" presId="urn:microsoft.com/office/officeart/2005/8/layout/vList3"/>
    <dgm:cxn modelId="{73B91AF1-FEEE-4640-A6AC-900FA1C0E1EF}" type="presParOf" srcId="{05EFF0C2-7968-4D49-A631-E77DCFA1315B}" destId="{F5E0E54F-FE7C-4CF2-812E-3F8B63B1EBAB}" srcOrd="1" destOrd="0" presId="urn:microsoft.com/office/officeart/2005/8/layout/vList3"/>
    <dgm:cxn modelId="{14881840-092F-48D7-B47F-92DEB72AD286}" type="presParOf" srcId="{555A72DF-D50C-495D-A92F-3E40023C8635}" destId="{2F68AAE3-4FD4-4AC0-AE2B-6EA8B89B5BCE}" srcOrd="3" destOrd="0" presId="urn:microsoft.com/office/officeart/2005/8/layout/vList3"/>
    <dgm:cxn modelId="{723BC169-3CA4-4A9E-9325-6DE932861C8B}" type="presParOf" srcId="{555A72DF-D50C-495D-A92F-3E40023C8635}" destId="{9B71A11B-E101-48B9-9BE8-84A2EB07A55F}" srcOrd="4" destOrd="0" presId="urn:microsoft.com/office/officeart/2005/8/layout/vList3"/>
    <dgm:cxn modelId="{8F1253C3-26F9-44A9-A39D-A6BFFF7C16A9}" type="presParOf" srcId="{9B71A11B-E101-48B9-9BE8-84A2EB07A55F}" destId="{97324577-62D0-4117-9863-DF457F18EB7B}" srcOrd="0" destOrd="0" presId="urn:microsoft.com/office/officeart/2005/8/layout/vList3"/>
    <dgm:cxn modelId="{F773118D-2BA4-41EF-A98F-29BEA2C01AB4}" type="presParOf" srcId="{9B71A11B-E101-48B9-9BE8-84A2EB07A55F}" destId="{45D7B2E0-97AC-4053-838A-5DE694B51A7B}" srcOrd="1" destOrd="0" presId="urn:microsoft.com/office/officeart/2005/8/layout/vList3"/>
    <dgm:cxn modelId="{30A8C11A-B569-4E73-ABD2-5C7825BA5D2A}" type="presParOf" srcId="{555A72DF-D50C-495D-A92F-3E40023C8635}" destId="{0251436B-111A-48A0-BFB4-AB42DC37515A}" srcOrd="5" destOrd="0" presId="urn:microsoft.com/office/officeart/2005/8/layout/vList3"/>
    <dgm:cxn modelId="{4B44A145-6927-4BD6-B5A9-9DB57B0C2DD2}" type="presParOf" srcId="{555A72DF-D50C-495D-A92F-3E40023C8635}" destId="{F21F6041-463B-43A5-86C7-858AA01C6B6E}" srcOrd="6" destOrd="0" presId="urn:microsoft.com/office/officeart/2005/8/layout/vList3"/>
    <dgm:cxn modelId="{39D861BA-A87C-4003-BBAA-1B72ED988C6F}" type="presParOf" srcId="{F21F6041-463B-43A5-86C7-858AA01C6B6E}" destId="{A5C225EE-0572-4131-B9DF-9A09E351145C}" srcOrd="0" destOrd="0" presId="urn:microsoft.com/office/officeart/2005/8/layout/vList3"/>
    <dgm:cxn modelId="{36DD3AAD-D267-4CE0-B616-ACCBD36D5932}" type="presParOf" srcId="{F21F6041-463B-43A5-86C7-858AA01C6B6E}" destId="{66A8EBAF-73A5-4B3B-B79B-820B3C74385D}" srcOrd="1" destOrd="0" presId="urn:microsoft.com/office/officeart/2005/8/layout/vList3"/>
    <dgm:cxn modelId="{B4486B93-1862-4A52-9D67-FE511D968C4F}" type="presParOf" srcId="{555A72DF-D50C-495D-A92F-3E40023C8635}" destId="{0DBA23D8-C2C7-4B3C-9F32-BEB791F41CA4}" srcOrd="7" destOrd="0" presId="urn:microsoft.com/office/officeart/2005/8/layout/vList3"/>
    <dgm:cxn modelId="{4F2E44A5-AC55-4FA4-8C76-A3399334ACB3}" type="presParOf" srcId="{555A72DF-D50C-495D-A92F-3E40023C8635}" destId="{C0C0F98B-70E8-4E82-A786-D9EA38825419}" srcOrd="8" destOrd="0" presId="urn:microsoft.com/office/officeart/2005/8/layout/vList3"/>
    <dgm:cxn modelId="{1F87CFF2-106B-4DF6-B45E-8E9801343477}" type="presParOf" srcId="{C0C0F98B-70E8-4E82-A786-D9EA38825419}" destId="{DD53833A-B1D5-44DD-9AF5-C6AE30715905}" srcOrd="0" destOrd="0" presId="urn:microsoft.com/office/officeart/2005/8/layout/vList3"/>
    <dgm:cxn modelId="{0EDAAD82-E880-4B5A-B2EC-ECC70AF8818C}" type="presParOf" srcId="{C0C0F98B-70E8-4E82-A786-D9EA38825419}" destId="{B43E2AE7-E3FA-4128-A53E-D1B07AF57CF8}" srcOrd="1" destOrd="0" presId="urn:microsoft.com/office/officeart/2005/8/layout/vList3"/>
    <dgm:cxn modelId="{C3A4C378-7664-465D-8725-D3F4F2DA02CB}" type="presParOf" srcId="{555A72DF-D50C-495D-A92F-3E40023C8635}" destId="{8DC8A1D3-E5E6-4A65-84C1-D0B8A8850B46}" srcOrd="9" destOrd="0" presId="urn:microsoft.com/office/officeart/2005/8/layout/vList3"/>
    <dgm:cxn modelId="{99F2A75E-8ECB-4576-9EE0-AE991686383A}" type="presParOf" srcId="{555A72DF-D50C-495D-A92F-3E40023C8635}" destId="{617F49A7-F6B4-4BCA-884A-52D9F7A0864C}" srcOrd="10" destOrd="0" presId="urn:microsoft.com/office/officeart/2005/8/layout/vList3"/>
    <dgm:cxn modelId="{2E499A96-D494-41BA-9084-FE75548516F9}" type="presParOf" srcId="{617F49A7-F6B4-4BCA-884A-52D9F7A0864C}" destId="{7C3EAF43-6897-4F71-971D-EA8353907D9E}" srcOrd="0" destOrd="0" presId="urn:microsoft.com/office/officeart/2005/8/layout/vList3"/>
    <dgm:cxn modelId="{DF9EF649-61FB-4088-B160-0DDA21B08ADC}" type="presParOf" srcId="{617F49A7-F6B4-4BCA-884A-52D9F7A0864C}" destId="{4E74F5AE-D3D2-4D3D-A0EE-B093744C002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92F24C-DDCB-463E-BDA4-C5B056EB42C5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9991B855-E876-4240-A35A-3EB891DF71B3}">
      <dgm:prSet/>
      <dgm:spPr/>
      <dgm:t>
        <a:bodyPr/>
        <a:lstStyle/>
        <a:p>
          <a:r>
            <a:rPr lang="en-US" b="1" i="0"/>
            <a:t>Serverless &amp; Event-Driven:</a:t>
          </a:r>
          <a:r>
            <a:rPr lang="en-US" b="0" i="0"/>
            <a:t> Built entirely on </a:t>
          </a:r>
          <a:r>
            <a:rPr lang="en-US" b="1" i="0"/>
            <a:t>AWS Lambda</a:t>
          </a:r>
          <a:r>
            <a:rPr lang="en-US" b="0" i="0"/>
            <a:t> and </a:t>
          </a:r>
          <a:r>
            <a:rPr lang="en-US" b="1" i="0"/>
            <a:t>EventBridge</a:t>
          </a:r>
          <a:r>
            <a:rPr lang="en-US" b="0" i="0"/>
            <a:t>, ensuring zero idle costs and infinite scalability for burst traffic.</a:t>
          </a:r>
          <a:endParaRPr lang="en-IN"/>
        </a:p>
      </dgm:t>
    </dgm:pt>
    <dgm:pt modelId="{F79455C8-694E-4806-9EDB-3025F03BAE2C}" type="parTrans" cxnId="{BA32617A-D7F1-466E-95C7-3C75E8B1EFED}">
      <dgm:prSet/>
      <dgm:spPr/>
      <dgm:t>
        <a:bodyPr/>
        <a:lstStyle/>
        <a:p>
          <a:endParaRPr lang="en-IN"/>
        </a:p>
      </dgm:t>
    </dgm:pt>
    <dgm:pt modelId="{E074BDB1-8F55-4117-8292-79DEEF9E710B}" type="sibTrans" cxnId="{BA32617A-D7F1-466E-95C7-3C75E8B1EFED}">
      <dgm:prSet/>
      <dgm:spPr/>
      <dgm:t>
        <a:bodyPr/>
        <a:lstStyle/>
        <a:p>
          <a:endParaRPr lang="en-IN"/>
        </a:p>
      </dgm:t>
    </dgm:pt>
    <dgm:pt modelId="{657059C0-8E95-4B88-8C61-631F115447FA}" type="pres">
      <dgm:prSet presAssocID="{1492F24C-DDCB-463E-BDA4-C5B056EB42C5}" presName="linear" presStyleCnt="0">
        <dgm:presLayoutVars>
          <dgm:animLvl val="lvl"/>
          <dgm:resizeHandles val="exact"/>
        </dgm:presLayoutVars>
      </dgm:prSet>
      <dgm:spPr/>
    </dgm:pt>
    <dgm:pt modelId="{F11F59C5-AF1C-4F74-8009-7CE5EE902D7E}" type="pres">
      <dgm:prSet presAssocID="{9991B855-E876-4240-A35A-3EB891DF71B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A32617A-D7F1-466E-95C7-3C75E8B1EFED}" srcId="{1492F24C-DDCB-463E-BDA4-C5B056EB42C5}" destId="{9991B855-E876-4240-A35A-3EB891DF71B3}" srcOrd="0" destOrd="0" parTransId="{F79455C8-694E-4806-9EDB-3025F03BAE2C}" sibTransId="{E074BDB1-8F55-4117-8292-79DEEF9E710B}"/>
    <dgm:cxn modelId="{DED682AB-F0AF-4B1E-9E41-BA90361A90A6}" type="presOf" srcId="{9991B855-E876-4240-A35A-3EB891DF71B3}" destId="{F11F59C5-AF1C-4F74-8009-7CE5EE902D7E}" srcOrd="0" destOrd="0" presId="urn:microsoft.com/office/officeart/2005/8/layout/vList2"/>
    <dgm:cxn modelId="{E3D689B3-94D2-47BB-A21F-042CD25DFC2D}" type="presOf" srcId="{1492F24C-DDCB-463E-BDA4-C5B056EB42C5}" destId="{657059C0-8E95-4B88-8C61-631F115447FA}" srcOrd="0" destOrd="0" presId="urn:microsoft.com/office/officeart/2005/8/layout/vList2"/>
    <dgm:cxn modelId="{693C1B1E-6131-4782-9BB3-3E34A738D9B4}" type="presParOf" srcId="{657059C0-8E95-4B88-8C61-631F115447FA}" destId="{F11F59C5-AF1C-4F74-8009-7CE5EE902D7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67E543-EFA8-46A4-AA91-3A44EDA1A66F}" type="doc">
      <dgm:prSet loTypeId="urn:microsoft.com/office/officeart/2005/8/layout/vList2" loCatId="list" qsTypeId="urn:microsoft.com/office/officeart/2005/8/quickstyle/simple2" qsCatId="simple" csTypeId="urn:microsoft.com/office/officeart/2005/8/colors/colorful4" csCatId="colorful"/>
      <dgm:spPr/>
      <dgm:t>
        <a:bodyPr/>
        <a:lstStyle/>
        <a:p>
          <a:endParaRPr lang="en-IN"/>
        </a:p>
      </dgm:t>
    </dgm:pt>
    <dgm:pt modelId="{E4B79CDA-835A-431E-A338-793FFBE71E2D}">
      <dgm:prSet/>
      <dgm:spPr/>
      <dgm:t>
        <a:bodyPr/>
        <a:lstStyle/>
        <a:p>
          <a:r>
            <a:rPr lang="en-IN" b="1" i="0" dirty="0"/>
            <a:t>Multi-Agent AI Layer:</a:t>
          </a:r>
          <a:r>
            <a:rPr lang="en-IN" b="0" i="0" dirty="0"/>
            <a:t> Leverages </a:t>
          </a:r>
          <a:r>
            <a:rPr lang="en-IN" b="1" i="0" dirty="0"/>
            <a:t>Amazon Bedrock (Claude 3.5 Sonnet)</a:t>
          </a:r>
          <a:r>
            <a:rPr lang="en-IN" b="0" i="0" dirty="0"/>
            <a:t> for reasoning, </a:t>
          </a:r>
          <a:r>
            <a:rPr lang="en-IN" b="1" i="0" dirty="0"/>
            <a:t>Amazon Polly</a:t>
          </a:r>
          <a:r>
            <a:rPr lang="en-IN" b="0" i="0" dirty="0"/>
            <a:t> for neural audio synthesis, and </a:t>
          </a:r>
          <a:r>
            <a:rPr lang="en-IN" b="1" i="0" dirty="0"/>
            <a:t>Titan Embeddings</a:t>
          </a:r>
          <a:r>
            <a:rPr lang="en-IN" b="0" i="0" dirty="0"/>
            <a:t> for vector search.</a:t>
          </a:r>
          <a:endParaRPr lang="en-IN" dirty="0"/>
        </a:p>
      </dgm:t>
    </dgm:pt>
    <dgm:pt modelId="{DADE4266-C516-47D8-BF3F-3D5C6377D0D3}" type="parTrans" cxnId="{370D4D86-FA9C-435B-8F8B-4147C8F1B9A3}">
      <dgm:prSet/>
      <dgm:spPr/>
      <dgm:t>
        <a:bodyPr/>
        <a:lstStyle/>
        <a:p>
          <a:endParaRPr lang="en-IN"/>
        </a:p>
      </dgm:t>
    </dgm:pt>
    <dgm:pt modelId="{DCCFBF69-9B6F-41D1-AC85-DFCDFCFC8538}" type="sibTrans" cxnId="{370D4D86-FA9C-435B-8F8B-4147C8F1B9A3}">
      <dgm:prSet/>
      <dgm:spPr/>
      <dgm:t>
        <a:bodyPr/>
        <a:lstStyle/>
        <a:p>
          <a:endParaRPr lang="en-IN"/>
        </a:p>
      </dgm:t>
    </dgm:pt>
    <dgm:pt modelId="{EF930074-FD59-41E0-9B5A-D45606FFFA23}" type="pres">
      <dgm:prSet presAssocID="{5B67E543-EFA8-46A4-AA91-3A44EDA1A66F}" presName="linear" presStyleCnt="0">
        <dgm:presLayoutVars>
          <dgm:animLvl val="lvl"/>
          <dgm:resizeHandles val="exact"/>
        </dgm:presLayoutVars>
      </dgm:prSet>
      <dgm:spPr/>
    </dgm:pt>
    <dgm:pt modelId="{77DDF94D-BDDB-46BD-8249-4AA978BC51A2}" type="pres">
      <dgm:prSet presAssocID="{E4B79CDA-835A-431E-A338-793FFBE71E2D}" presName="parentText" presStyleLbl="node1" presStyleIdx="0" presStyleCnt="1" custLinFactNeighborX="1191" custLinFactNeighborY="-8136">
        <dgm:presLayoutVars>
          <dgm:chMax val="0"/>
          <dgm:bulletEnabled val="1"/>
        </dgm:presLayoutVars>
      </dgm:prSet>
      <dgm:spPr/>
    </dgm:pt>
  </dgm:ptLst>
  <dgm:cxnLst>
    <dgm:cxn modelId="{71AA0C3A-B3B4-4384-B124-9C7EC11CAACE}" type="presOf" srcId="{E4B79CDA-835A-431E-A338-793FFBE71E2D}" destId="{77DDF94D-BDDB-46BD-8249-4AA978BC51A2}" srcOrd="0" destOrd="0" presId="urn:microsoft.com/office/officeart/2005/8/layout/vList2"/>
    <dgm:cxn modelId="{370D4D86-FA9C-435B-8F8B-4147C8F1B9A3}" srcId="{5B67E543-EFA8-46A4-AA91-3A44EDA1A66F}" destId="{E4B79CDA-835A-431E-A338-793FFBE71E2D}" srcOrd="0" destOrd="0" parTransId="{DADE4266-C516-47D8-BF3F-3D5C6377D0D3}" sibTransId="{DCCFBF69-9B6F-41D1-AC85-DFCDFCFC8538}"/>
    <dgm:cxn modelId="{B132BB88-7A56-4785-8473-CFC7561E5B1E}" type="presOf" srcId="{5B67E543-EFA8-46A4-AA91-3A44EDA1A66F}" destId="{EF930074-FD59-41E0-9B5A-D45606FFFA23}" srcOrd="0" destOrd="0" presId="urn:microsoft.com/office/officeart/2005/8/layout/vList2"/>
    <dgm:cxn modelId="{F64C5566-BB80-4E9C-B288-B98E7FDC5145}" type="presParOf" srcId="{EF930074-FD59-41E0-9B5A-D45606FFFA23}" destId="{77DDF94D-BDDB-46BD-8249-4AA978BC51A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E4DE5C-9292-4A9C-8A72-2DC08B22FBD2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DE81863-74B7-4F24-B25A-466D9ADC7C03}">
      <dgm:prSet/>
      <dgm:spPr/>
      <dgm:t>
        <a:bodyPr/>
        <a:lstStyle/>
        <a:p>
          <a:r>
            <a:rPr lang="en-US" b="1" i="0" dirty="0"/>
            <a:t>High-Performance Data Layer:</a:t>
          </a:r>
          <a:r>
            <a:rPr lang="en-US" b="0" i="0" dirty="0"/>
            <a:t> Uses </a:t>
          </a:r>
          <a:r>
            <a:rPr lang="en-US" b="1" i="0" dirty="0"/>
            <a:t>OpenSearch Serverless</a:t>
          </a:r>
          <a:r>
            <a:rPr lang="en-US" b="0" i="0" dirty="0"/>
            <a:t> for millisecond-latency vector retrieval (RAG) and </a:t>
          </a:r>
          <a:r>
            <a:rPr lang="en-US" b="1" i="0" dirty="0"/>
            <a:t>DynamoDB</a:t>
          </a:r>
          <a:r>
            <a:rPr lang="en-US" b="0" i="0" dirty="0"/>
            <a:t> for storing user profiles and learning paths.</a:t>
          </a:r>
          <a:endParaRPr lang="en-IN" dirty="0"/>
        </a:p>
      </dgm:t>
    </dgm:pt>
    <dgm:pt modelId="{DC07501D-44EE-44D1-91C0-ED7513B86F2C}" type="parTrans" cxnId="{20F2B6D4-FEEE-4BBD-A683-B6B94F735345}">
      <dgm:prSet/>
      <dgm:spPr/>
      <dgm:t>
        <a:bodyPr/>
        <a:lstStyle/>
        <a:p>
          <a:endParaRPr lang="en-IN"/>
        </a:p>
      </dgm:t>
    </dgm:pt>
    <dgm:pt modelId="{74B5195A-8437-4F76-BA72-71F1D41E9AF8}" type="sibTrans" cxnId="{20F2B6D4-FEEE-4BBD-A683-B6B94F735345}">
      <dgm:prSet/>
      <dgm:spPr/>
      <dgm:t>
        <a:bodyPr/>
        <a:lstStyle/>
        <a:p>
          <a:endParaRPr lang="en-IN"/>
        </a:p>
      </dgm:t>
    </dgm:pt>
    <dgm:pt modelId="{F6EF2A24-09FE-4BC6-8EC2-7BFCD00BEA2F}" type="pres">
      <dgm:prSet presAssocID="{56E4DE5C-9292-4A9C-8A72-2DC08B22FBD2}" presName="linear" presStyleCnt="0">
        <dgm:presLayoutVars>
          <dgm:animLvl val="lvl"/>
          <dgm:resizeHandles val="exact"/>
        </dgm:presLayoutVars>
      </dgm:prSet>
      <dgm:spPr/>
    </dgm:pt>
    <dgm:pt modelId="{5240AD4D-D849-4093-BF94-29F51B5CD289}" type="pres">
      <dgm:prSet presAssocID="{BDE81863-74B7-4F24-B25A-466D9ADC7C0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34218B5-0CD6-461B-80E8-D08C4C456B15}" type="presOf" srcId="{56E4DE5C-9292-4A9C-8A72-2DC08B22FBD2}" destId="{F6EF2A24-09FE-4BC6-8EC2-7BFCD00BEA2F}" srcOrd="0" destOrd="0" presId="urn:microsoft.com/office/officeart/2005/8/layout/vList2"/>
    <dgm:cxn modelId="{20F2B6D4-FEEE-4BBD-A683-B6B94F735345}" srcId="{56E4DE5C-9292-4A9C-8A72-2DC08B22FBD2}" destId="{BDE81863-74B7-4F24-B25A-466D9ADC7C03}" srcOrd="0" destOrd="0" parTransId="{DC07501D-44EE-44D1-91C0-ED7513B86F2C}" sibTransId="{74B5195A-8437-4F76-BA72-71F1D41E9AF8}"/>
    <dgm:cxn modelId="{3EE796F0-3240-424C-B31C-BCC88BBC289D}" type="presOf" srcId="{BDE81863-74B7-4F24-B25A-466D9ADC7C03}" destId="{5240AD4D-D849-4093-BF94-29F51B5CD289}" srcOrd="0" destOrd="0" presId="urn:microsoft.com/office/officeart/2005/8/layout/vList2"/>
    <dgm:cxn modelId="{1AE0EDB2-96B1-4A24-9859-419C16336DE0}" type="presParOf" srcId="{F6EF2A24-09FE-4BC6-8EC2-7BFCD00BEA2F}" destId="{5240AD4D-D849-4093-BF94-29F51B5CD28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141609-88BB-4872-BEC1-D5FE548082A2}">
      <dsp:nvSpPr>
        <dsp:cNvPr id="0" name=""/>
        <dsp:cNvSpPr/>
      </dsp:nvSpPr>
      <dsp:spPr>
        <a:xfrm rot="10800000">
          <a:off x="976831" y="624"/>
          <a:ext cx="3282696" cy="59994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4560" tIns="34290" rIns="64008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i="0" kern="1200" dirty="0"/>
            <a:t>Multilingual Semantic Search:</a:t>
          </a:r>
          <a:r>
            <a:rPr lang="en-IN" sz="900" b="0" i="0" kern="1200" dirty="0"/>
            <a:t> Query technical documentation in </a:t>
          </a:r>
          <a:r>
            <a:rPr lang="en-IN" sz="900" b="1" i="0" kern="1200" dirty="0"/>
            <a:t>20+ Indian languages</a:t>
          </a:r>
          <a:r>
            <a:rPr lang="en-IN" sz="900" b="0" i="0" kern="1200" dirty="0"/>
            <a:t> with &gt;90% accuracy using Amazon Bedrock.</a:t>
          </a:r>
          <a:endParaRPr lang="en-IN" sz="900" kern="1200" dirty="0"/>
        </a:p>
      </dsp:txBody>
      <dsp:txXfrm rot="10800000">
        <a:off x="1126817" y="624"/>
        <a:ext cx="3132710" cy="599946"/>
      </dsp:txXfrm>
    </dsp:sp>
    <dsp:sp modelId="{3272842F-5A2A-4AC2-87A5-7A281B085340}">
      <dsp:nvSpPr>
        <dsp:cNvPr id="0" name=""/>
        <dsp:cNvSpPr/>
      </dsp:nvSpPr>
      <dsp:spPr>
        <a:xfrm>
          <a:off x="676857" y="624"/>
          <a:ext cx="599946" cy="59994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5E0E54F-FE7C-4CF2-812E-3F8B63B1EBAB}">
      <dsp:nvSpPr>
        <dsp:cNvPr id="0" name=""/>
        <dsp:cNvSpPr/>
      </dsp:nvSpPr>
      <dsp:spPr>
        <a:xfrm rot="10800000">
          <a:off x="976831" y="779660"/>
          <a:ext cx="3282696" cy="59994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4560" tIns="34290" rIns="64008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i="0" kern="1200" dirty="0"/>
            <a:t>Autonomous Wiki &amp; Mapper:</a:t>
          </a:r>
          <a:r>
            <a:rPr lang="en-IN" sz="900" b="0" i="0" kern="1200" dirty="0"/>
            <a:t> Automatically regenerates the entire documentation portal and live </a:t>
          </a:r>
          <a:r>
            <a:rPr lang="en-IN" sz="900" b="1" i="0" kern="1200" dirty="0"/>
            <a:t>Mermaid.js architecture diagrams</a:t>
          </a:r>
          <a:r>
            <a:rPr lang="en-IN" sz="900" b="0" i="0" kern="1200" dirty="0"/>
            <a:t> within 5 minutes of a Git push.</a:t>
          </a:r>
          <a:endParaRPr lang="en-IN" sz="900" kern="1200" dirty="0"/>
        </a:p>
      </dsp:txBody>
      <dsp:txXfrm rot="10800000">
        <a:off x="1126817" y="779660"/>
        <a:ext cx="3132710" cy="599946"/>
      </dsp:txXfrm>
    </dsp:sp>
    <dsp:sp modelId="{E7C55309-A89D-44BB-8559-2853F3127C06}">
      <dsp:nvSpPr>
        <dsp:cNvPr id="0" name=""/>
        <dsp:cNvSpPr/>
      </dsp:nvSpPr>
      <dsp:spPr>
        <a:xfrm>
          <a:off x="676857" y="779660"/>
          <a:ext cx="599946" cy="59994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5D7B2E0-97AC-4053-838A-5DE694B51A7B}">
      <dsp:nvSpPr>
        <dsp:cNvPr id="0" name=""/>
        <dsp:cNvSpPr/>
      </dsp:nvSpPr>
      <dsp:spPr>
        <a:xfrm rot="10800000">
          <a:off x="976831" y="1558695"/>
          <a:ext cx="3282696" cy="59994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4560" tIns="34290" rIns="64008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i="0" kern="1200"/>
            <a:t>The Bharat Explainer:</a:t>
          </a:r>
          <a:r>
            <a:rPr lang="en-IN" sz="900" b="0" i="0" kern="1200"/>
            <a:t> Generates 60-second </a:t>
          </a:r>
          <a:r>
            <a:rPr lang="en-IN" sz="900" b="1" i="0" kern="1200"/>
            <a:t>neural audio walkthroughs</a:t>
          </a:r>
          <a:r>
            <a:rPr lang="en-IN" sz="900" b="0" i="0" kern="1200"/>
            <a:t> of code logic in 10+ Indic languages (Hindi, Marathi, Tamil, etc.).</a:t>
          </a:r>
          <a:endParaRPr lang="en-IN" sz="900" kern="1200"/>
        </a:p>
      </dsp:txBody>
      <dsp:txXfrm rot="10800000">
        <a:off x="1126817" y="1558695"/>
        <a:ext cx="3132710" cy="599946"/>
      </dsp:txXfrm>
    </dsp:sp>
    <dsp:sp modelId="{97324577-62D0-4117-9863-DF457F18EB7B}">
      <dsp:nvSpPr>
        <dsp:cNvPr id="0" name=""/>
        <dsp:cNvSpPr/>
      </dsp:nvSpPr>
      <dsp:spPr>
        <a:xfrm>
          <a:off x="676857" y="1558695"/>
          <a:ext cx="599946" cy="599946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6A8EBAF-73A5-4B3B-B79B-820B3C74385D}">
      <dsp:nvSpPr>
        <dsp:cNvPr id="0" name=""/>
        <dsp:cNvSpPr/>
      </dsp:nvSpPr>
      <dsp:spPr>
        <a:xfrm rot="10800000">
          <a:off x="976831" y="2337730"/>
          <a:ext cx="3282696" cy="59994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4560" tIns="34290" rIns="64008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i="0" kern="1200" dirty="0"/>
            <a:t>Bhasha-Chat Widget:</a:t>
          </a:r>
          <a:r>
            <a:rPr lang="en-IN" sz="900" b="0" i="0" kern="1200" dirty="0"/>
            <a:t> An embeddable </a:t>
          </a:r>
          <a:r>
            <a:rPr lang="en-IN" sz="900" b="1" i="0" kern="1200" dirty="0"/>
            <a:t>RAG-based chat widget</a:t>
          </a:r>
          <a:r>
            <a:rPr lang="en-IN" sz="900" b="0" i="0" kern="1200" dirty="0"/>
            <a:t> that allows developers to ask "What does this code do?" in their native language.</a:t>
          </a:r>
          <a:endParaRPr lang="en-IN" sz="900" kern="1200" dirty="0"/>
        </a:p>
      </dsp:txBody>
      <dsp:txXfrm rot="10800000">
        <a:off x="1126817" y="2337730"/>
        <a:ext cx="3132710" cy="599946"/>
      </dsp:txXfrm>
    </dsp:sp>
    <dsp:sp modelId="{A5C225EE-0572-4131-B9DF-9A09E351145C}">
      <dsp:nvSpPr>
        <dsp:cNvPr id="0" name=""/>
        <dsp:cNvSpPr/>
      </dsp:nvSpPr>
      <dsp:spPr>
        <a:xfrm>
          <a:off x="676857" y="2337730"/>
          <a:ext cx="599946" cy="599946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43E2AE7-E3FA-4128-A53E-D1B07AF57CF8}">
      <dsp:nvSpPr>
        <dsp:cNvPr id="0" name=""/>
        <dsp:cNvSpPr/>
      </dsp:nvSpPr>
      <dsp:spPr>
        <a:xfrm rot="10800000">
          <a:off x="976831" y="3116766"/>
          <a:ext cx="3282696" cy="59994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4560" tIns="34290" rIns="64008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i="0" kern="1200"/>
            <a:t>Suraksha-Audit:</a:t>
          </a:r>
          <a:r>
            <a:rPr lang="en-IN" sz="900" b="0" i="0" kern="1200"/>
            <a:t> A security scanner that detects vulnerabilities (OWASP Top 10, secrets) and automatically writes </a:t>
          </a:r>
          <a:r>
            <a:rPr lang="en-IN" sz="900" b="1" i="0" kern="1200"/>
            <a:t>Security Advisories</a:t>
          </a:r>
          <a:r>
            <a:rPr lang="en-IN" sz="900" b="0" i="0" kern="1200"/>
            <a:t>.</a:t>
          </a:r>
          <a:endParaRPr lang="en-IN" sz="900" kern="1200"/>
        </a:p>
      </dsp:txBody>
      <dsp:txXfrm rot="10800000">
        <a:off x="1126817" y="3116766"/>
        <a:ext cx="3132710" cy="599946"/>
      </dsp:txXfrm>
    </dsp:sp>
    <dsp:sp modelId="{DD53833A-B1D5-44DD-9AF5-C6AE30715905}">
      <dsp:nvSpPr>
        <dsp:cNvPr id="0" name=""/>
        <dsp:cNvSpPr/>
      </dsp:nvSpPr>
      <dsp:spPr>
        <a:xfrm>
          <a:off x="676857" y="3116766"/>
          <a:ext cx="599946" cy="599946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E74F5AE-D3D2-4D3D-A0EE-B093744C0029}">
      <dsp:nvSpPr>
        <dsp:cNvPr id="0" name=""/>
        <dsp:cNvSpPr/>
      </dsp:nvSpPr>
      <dsp:spPr>
        <a:xfrm rot="10800000">
          <a:off x="976831" y="3895801"/>
          <a:ext cx="3282696" cy="59994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4560" tIns="34290" rIns="64008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1" i="0" kern="1200"/>
            <a:t>Skill-Adaptive Content:</a:t>
          </a:r>
          <a:r>
            <a:rPr lang="en-IN" sz="900" b="0" i="0" kern="1200"/>
            <a:t> A dynamic toggle that switches documentation depth between </a:t>
          </a:r>
          <a:r>
            <a:rPr lang="en-IN" sz="900" b="1" i="0" kern="1200"/>
            <a:t>"Junior"</a:t>
          </a:r>
          <a:r>
            <a:rPr lang="en-IN" sz="900" b="0" i="0" kern="1200"/>
            <a:t> (step-by-step) and </a:t>
          </a:r>
          <a:r>
            <a:rPr lang="en-IN" sz="900" b="1" i="0" kern="1200"/>
            <a:t>"Senior"</a:t>
          </a:r>
          <a:r>
            <a:rPr lang="en-IN" sz="900" b="0" i="0" kern="1200"/>
            <a:t> (architecture patterns) views.</a:t>
          </a:r>
          <a:endParaRPr lang="en-IN" sz="900" kern="1200"/>
        </a:p>
      </dsp:txBody>
      <dsp:txXfrm rot="10800000">
        <a:off x="1126817" y="3895801"/>
        <a:ext cx="3132710" cy="599946"/>
      </dsp:txXfrm>
    </dsp:sp>
    <dsp:sp modelId="{7C3EAF43-6897-4F71-971D-EA8353907D9E}">
      <dsp:nvSpPr>
        <dsp:cNvPr id="0" name=""/>
        <dsp:cNvSpPr/>
      </dsp:nvSpPr>
      <dsp:spPr>
        <a:xfrm>
          <a:off x="676857" y="3895801"/>
          <a:ext cx="599946" cy="599946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F59C5-AF1C-4F74-8009-7CE5EE902D7E}">
      <dsp:nvSpPr>
        <dsp:cNvPr id="0" name=""/>
        <dsp:cNvSpPr/>
      </dsp:nvSpPr>
      <dsp:spPr>
        <a:xfrm>
          <a:off x="0" y="16431"/>
          <a:ext cx="2440692" cy="9827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Serverless &amp; Event-Driven:</a:t>
          </a:r>
          <a:r>
            <a:rPr lang="en-US" sz="1200" b="0" i="0" kern="1200"/>
            <a:t> Built entirely on </a:t>
          </a:r>
          <a:r>
            <a:rPr lang="en-US" sz="1200" b="1" i="0" kern="1200"/>
            <a:t>AWS Lambda</a:t>
          </a:r>
          <a:r>
            <a:rPr lang="en-US" sz="1200" b="0" i="0" kern="1200"/>
            <a:t> and </a:t>
          </a:r>
          <a:r>
            <a:rPr lang="en-US" sz="1200" b="1" i="0" kern="1200"/>
            <a:t>EventBridge</a:t>
          </a:r>
          <a:r>
            <a:rPr lang="en-US" sz="1200" b="0" i="0" kern="1200"/>
            <a:t>, ensuring zero idle costs and infinite scalability for burst traffic.</a:t>
          </a:r>
          <a:endParaRPr lang="en-IN" sz="1200" kern="1200"/>
        </a:p>
      </dsp:txBody>
      <dsp:txXfrm>
        <a:off x="47976" y="64407"/>
        <a:ext cx="2344740" cy="8868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DDF94D-BDDB-46BD-8249-4AA978BC51A2}">
      <dsp:nvSpPr>
        <dsp:cNvPr id="0" name=""/>
        <dsp:cNvSpPr/>
      </dsp:nvSpPr>
      <dsp:spPr>
        <a:xfrm>
          <a:off x="0" y="28803"/>
          <a:ext cx="2789010" cy="9827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Multi-Agent AI Layer:</a:t>
          </a:r>
          <a:r>
            <a:rPr lang="en-IN" sz="1200" b="0" i="0" kern="1200" dirty="0"/>
            <a:t> Leverages </a:t>
          </a:r>
          <a:r>
            <a:rPr lang="en-IN" sz="1200" b="1" i="0" kern="1200" dirty="0"/>
            <a:t>Amazon Bedrock (Claude 3.5 Sonnet)</a:t>
          </a:r>
          <a:r>
            <a:rPr lang="en-IN" sz="1200" b="0" i="0" kern="1200" dirty="0"/>
            <a:t> for reasoning, </a:t>
          </a:r>
          <a:r>
            <a:rPr lang="en-IN" sz="1200" b="1" i="0" kern="1200" dirty="0"/>
            <a:t>Amazon Polly</a:t>
          </a:r>
          <a:r>
            <a:rPr lang="en-IN" sz="1200" b="0" i="0" kern="1200" dirty="0"/>
            <a:t> for neural audio synthesis, and </a:t>
          </a:r>
          <a:r>
            <a:rPr lang="en-IN" sz="1200" b="1" i="0" kern="1200" dirty="0"/>
            <a:t>Titan Embeddings</a:t>
          </a:r>
          <a:r>
            <a:rPr lang="en-IN" sz="1200" b="0" i="0" kern="1200" dirty="0"/>
            <a:t> for vector search.</a:t>
          </a:r>
          <a:endParaRPr lang="en-IN" sz="1200" kern="1200" dirty="0"/>
        </a:p>
      </dsp:txBody>
      <dsp:txXfrm>
        <a:off x="47976" y="76779"/>
        <a:ext cx="2693058" cy="8868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0AD4D-D849-4093-BF94-29F51B5CD289}">
      <dsp:nvSpPr>
        <dsp:cNvPr id="0" name=""/>
        <dsp:cNvSpPr/>
      </dsp:nvSpPr>
      <dsp:spPr>
        <a:xfrm>
          <a:off x="0" y="16431"/>
          <a:ext cx="2866542" cy="982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High-Performance Data Layer:</a:t>
          </a:r>
          <a:r>
            <a:rPr lang="en-US" sz="1200" b="0" i="0" kern="1200" dirty="0"/>
            <a:t> Uses </a:t>
          </a:r>
          <a:r>
            <a:rPr lang="en-US" sz="1200" b="1" i="0" kern="1200" dirty="0"/>
            <a:t>OpenSearch Serverless</a:t>
          </a:r>
          <a:r>
            <a:rPr lang="en-US" sz="1200" b="0" i="0" kern="1200" dirty="0"/>
            <a:t> for millisecond-latency vector retrieval (RAG) and </a:t>
          </a:r>
          <a:r>
            <a:rPr lang="en-US" sz="1200" b="1" i="0" kern="1200" dirty="0"/>
            <a:t>DynamoDB</a:t>
          </a:r>
          <a:r>
            <a:rPr lang="en-US" sz="1200" b="0" i="0" kern="1200" dirty="0"/>
            <a:t> for storing user profiles and learning paths.</a:t>
          </a:r>
          <a:endParaRPr lang="en-IN" sz="1200" kern="1200" dirty="0"/>
        </a:p>
      </dsp:txBody>
      <dsp:txXfrm>
        <a:off x="47976" y="64407"/>
        <a:ext cx="2770590" cy="886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13" Type="http://schemas.openxmlformats.org/officeDocument/2006/relationships/diagramColors" Target="../diagrams/colors3.xml"/><Relationship Id="rId18" Type="http://schemas.openxmlformats.org/officeDocument/2006/relationships/diagramColors" Target="../diagrams/colors4.xml"/><Relationship Id="rId3" Type="http://schemas.openxmlformats.org/officeDocument/2006/relationships/image" Target="../media/image19.png"/><Relationship Id="rId7" Type="http://schemas.openxmlformats.org/officeDocument/2006/relationships/diagramQuickStyle" Target="../diagrams/quickStyle2.xml"/><Relationship Id="rId12" Type="http://schemas.openxmlformats.org/officeDocument/2006/relationships/diagramQuickStyle" Target="../diagrams/quickStyle3.xml"/><Relationship Id="rId17" Type="http://schemas.openxmlformats.org/officeDocument/2006/relationships/diagramQuickStyle" Target="../diagrams/quickStyle4.xml"/><Relationship Id="rId2" Type="http://schemas.openxmlformats.org/officeDocument/2006/relationships/notesSlide" Target="../notesSlides/notesSlide7.xml"/><Relationship Id="rId16" Type="http://schemas.openxmlformats.org/officeDocument/2006/relationships/diagramLayout" Target="../diagrams/layout4.xml"/><Relationship Id="rId1" Type="http://schemas.openxmlformats.org/officeDocument/2006/relationships/slideLayout" Target="../slideLayouts/slideLayout11.xml"/><Relationship Id="rId6" Type="http://schemas.openxmlformats.org/officeDocument/2006/relationships/diagramLayout" Target="../diagrams/layout2.xml"/><Relationship Id="rId11" Type="http://schemas.openxmlformats.org/officeDocument/2006/relationships/diagramLayout" Target="../diagrams/layout3.xml"/><Relationship Id="rId5" Type="http://schemas.openxmlformats.org/officeDocument/2006/relationships/diagramData" Target="../diagrams/data2.xml"/><Relationship Id="rId15" Type="http://schemas.openxmlformats.org/officeDocument/2006/relationships/diagramData" Target="../diagrams/data4.xml"/><Relationship Id="rId10" Type="http://schemas.openxmlformats.org/officeDocument/2006/relationships/diagramData" Target="../diagrams/data3.xml"/><Relationship Id="rId19" Type="http://schemas.microsoft.com/office/2007/relationships/diagramDrawing" Target="../diagrams/drawing4.xml"/><Relationship Id="rId4" Type="http://schemas.openxmlformats.org/officeDocument/2006/relationships/image" Target="../media/image3.png"/><Relationship Id="rId9" Type="http://schemas.microsoft.com/office/2007/relationships/diagramDrawing" Target="../diagrams/drawing2.xml"/><Relationship Id="rId14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63" y="326136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Synthetix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63" y="3867411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 dirty="0">
                <a:solidFill>
                  <a:srgbClr val="202729"/>
                </a:solidFill>
                <a:latin typeface="Manrope SemiBold" panose="020B0604020202020204" charset="0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IN" sz="1600" dirty="0">
                <a:latin typeface="Manrope SemiBold" panose="020B0604020202020204" charset="0"/>
              </a:rPr>
              <a:t>Documentation Debt: Technical debt consumes 30% of senior developer capacity, costing teams significantly in lost productivity.</a:t>
            </a:r>
          </a:p>
          <a:p>
            <a:r>
              <a:rPr lang="en-IN" sz="1600" dirty="0">
                <a:latin typeface="Manrope SemiBold" panose="020B0604020202020204" charset="0"/>
              </a:rPr>
              <a:t>Linguistic Exclusion: English-only documentation creates barriers for Bharat's 5.5 million+ developers, particularly in Tier-2/3 cities.</a:t>
            </a:r>
          </a:p>
          <a:p>
            <a:r>
              <a:rPr lang="en-IN" sz="1600" dirty="0">
                <a:latin typeface="Manrope SemiBold" panose="020B0604020202020204" charset="0"/>
              </a:rPr>
              <a:t> </a:t>
            </a: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02729"/>
              </a:solidFill>
              <a:latin typeface="Manrope SemiBold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578539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Sarthak Deodhar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6EDF8D3-BBAD-5F36-245F-597A526CFA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26" b="20991"/>
          <a:stretch>
            <a:fillRect/>
          </a:stretch>
        </p:blipFill>
        <p:spPr>
          <a:xfrm>
            <a:off x="820114" y="3252058"/>
            <a:ext cx="7389207" cy="1808507"/>
          </a:xfrm>
          <a:prstGeom prst="rect">
            <a:avLst/>
          </a:prstGeom>
        </p:spPr>
      </p:pic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699" y="679711"/>
            <a:ext cx="8406038" cy="378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b="1" dirty="0">
                <a:latin typeface="Manrope SemiBold" panose="020B0604020202020204" charset="0"/>
              </a:rPr>
              <a:t>                                    </a:t>
            </a:r>
            <a:r>
              <a:rPr lang="en-IN" b="1" dirty="0" err="1">
                <a:latin typeface="Manrope SemiBold" panose="020B0604020202020204" charset="0"/>
              </a:rPr>
              <a:t>Synthetix</a:t>
            </a:r>
            <a:r>
              <a:rPr lang="en-IN" b="1" dirty="0">
                <a:latin typeface="Manrope SemiBold" panose="020B0604020202020204" charset="0"/>
              </a:rPr>
              <a:t> Docs: AI-Augmented Technical Navigator for Bharat</a:t>
            </a:r>
            <a:r>
              <a:rPr lang="en-IN" b="1" u="sng" dirty="0">
                <a:latin typeface="Manrope SemiBold" panose="020B0604020202020204" charset="0"/>
              </a:rPr>
              <a:t>                  </a:t>
            </a:r>
            <a:endParaRPr lang="en-IN" b="1" dirty="0">
              <a:latin typeface="Manrope SemiBold" panose="020B0604020202020204" charset="0"/>
            </a:endParaRPr>
          </a:p>
          <a:p>
            <a:endParaRPr lang="en-IN" dirty="0">
              <a:latin typeface="Manrope SemiBold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anrope SemiBold" panose="020B0604020202020204" charset="0"/>
              </a:rPr>
              <a:t>Concept: </a:t>
            </a:r>
            <a:r>
              <a:rPr lang="en-IN" dirty="0">
                <a:latin typeface="Manrope SemiBold" panose="020B0604020202020204" charset="0"/>
              </a:rPr>
              <a:t>An intelligent, serverless platform designed to transform static technical documentation into an interactive, multilingual learning assistant for the Indian developer ecosystem.</a:t>
            </a:r>
          </a:p>
          <a:p>
            <a:pPr lvl="0"/>
            <a:endParaRPr lang="en-IN" b="1" dirty="0">
              <a:latin typeface="Manrope SemiBold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anrope SemiBold" panose="020B0604020202020204" charset="0"/>
              </a:rPr>
              <a:t>Core Innovation: </a:t>
            </a:r>
            <a:r>
              <a:rPr lang="en-IN" dirty="0">
                <a:latin typeface="Manrope SemiBold" panose="020B0604020202020204" charset="0"/>
              </a:rPr>
              <a:t>Unlike traditional wikis, the system is </a:t>
            </a:r>
            <a:r>
              <a:rPr lang="en-IN" b="1" dirty="0">
                <a:latin typeface="Manrope SemiBold" panose="020B0604020202020204" charset="0"/>
              </a:rPr>
              <a:t>event-driven</a:t>
            </a:r>
            <a:r>
              <a:rPr lang="en-IN" dirty="0">
                <a:latin typeface="Manrope SemiBold" panose="020B0604020202020204" charset="0"/>
              </a:rPr>
              <a:t>—it automatically regenerates documentation, architecture diagrams, and audio walkthroughs instantly whenever code is pushed to GitHub.</a:t>
            </a:r>
          </a:p>
          <a:p>
            <a:pPr lvl="0"/>
            <a:endParaRPr lang="en-IN" dirty="0">
              <a:latin typeface="Manrope SemiBold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anrope SemiBold" panose="020B0604020202020204" charset="0"/>
              </a:rPr>
              <a:t>Impact</a:t>
            </a:r>
            <a:r>
              <a:rPr lang="en-IN" dirty="0">
                <a:latin typeface="Manrope SemiBold" panose="020B0604020202020204" charset="0"/>
              </a:rPr>
              <a:t>: It bridges the linguistic gap by enabling developers to query technical concepts in </a:t>
            </a:r>
            <a:r>
              <a:rPr lang="en-IN" b="1" dirty="0">
                <a:latin typeface="Manrope SemiBold" panose="020B0604020202020204" charset="0"/>
              </a:rPr>
              <a:t>20+ Indic languages </a:t>
            </a:r>
            <a:r>
              <a:rPr lang="en-IN" dirty="0">
                <a:latin typeface="Manrope SemiBold" panose="020B0604020202020204" charset="0"/>
              </a:rPr>
              <a:t>and receive context-aware, localized explanations via text or neural audio.</a:t>
            </a:r>
          </a:p>
          <a:p>
            <a:r>
              <a:rPr lang="en-IN" dirty="0">
                <a:latin typeface="Manrope SemiBold" panose="020B0604020202020204" charset="0"/>
              </a:rPr>
              <a:t> 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700" dirty="0">
              <a:solidFill>
                <a:srgbClr val="202729"/>
              </a:solidFill>
              <a:latin typeface="Manrope SemiBold" panose="020B0604020202020204" charset="0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240633" y="457912"/>
            <a:ext cx="8690236" cy="4602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 panose="020B0604020202020204" charset="0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</a:p>
          <a:p>
            <a:pPr marL="298450" lvl="0" indent="-171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Wingdings" panose="05000000000000000000" pitchFamily="2" charset="2"/>
              <a:buChar char="§"/>
            </a:pPr>
            <a:r>
              <a:rPr lang="en-IN" sz="1200" dirty="0">
                <a:latin typeface="Manrope SemiBold" panose="020B0604020202020204" charset="0"/>
              </a:rPr>
              <a:t>Unlike traditional static documentation that becomes obsolete quickly, our system is </a:t>
            </a:r>
            <a:r>
              <a:rPr lang="en-IN" sz="1200" b="1" dirty="0">
                <a:latin typeface="Manrope SemiBold" panose="020B0604020202020204" charset="0"/>
              </a:rPr>
              <a:t>event-driven and self-updating</a:t>
            </a:r>
            <a:r>
              <a:rPr lang="en-IN" sz="1200" dirty="0">
                <a:latin typeface="Manrope SemiBold" panose="020B0604020202020204" charset="0"/>
              </a:rPr>
              <a:t>. While standard wikis rely on manual edits, </a:t>
            </a:r>
            <a:r>
              <a:rPr lang="en-IN" sz="1200" dirty="0" err="1">
                <a:latin typeface="Manrope SemiBold" panose="020B0604020202020204" charset="0"/>
              </a:rPr>
              <a:t>Synthetix</a:t>
            </a:r>
            <a:r>
              <a:rPr lang="en-IN" sz="1200" dirty="0">
                <a:latin typeface="Manrope SemiBold" panose="020B0604020202020204" charset="0"/>
              </a:rPr>
              <a:t> Docs automatically regenerates technical guides, architecture diagrams, and security advisories immediately upon every Git push, ensuring 100% freshness.</a:t>
            </a:r>
          </a:p>
          <a:p>
            <a:pPr marL="298450" lvl="0" indent="-171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Wingdings" panose="05000000000000000000" pitchFamily="2" charset="2"/>
              <a:buChar char="§"/>
            </a:pPr>
            <a:endParaRPr lang="en-IN" sz="1200" dirty="0">
              <a:latin typeface="Manrope SemiBold" panose="020B0604020202020204" charset="0"/>
            </a:endParaRPr>
          </a:p>
          <a:p>
            <a: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 panose="020B0604020202020204" charset="0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dirty="0">
                <a:latin typeface="Manrope SemiBold" panose="020B0604020202020204" charset="0"/>
              </a:rPr>
              <a:t>It solves </a:t>
            </a:r>
            <a:r>
              <a:rPr lang="en-IN" sz="1200" b="1" dirty="0">
                <a:latin typeface="Manrope SemiBold" panose="020B0604020202020204" charset="0"/>
              </a:rPr>
              <a:t>"Linguistic Exclusion"</a:t>
            </a:r>
            <a:r>
              <a:rPr lang="en-IN" sz="1200" dirty="0">
                <a:latin typeface="Manrope SemiBold" panose="020B0604020202020204" charset="0"/>
              </a:rPr>
              <a:t> by enabling developers to query codebases in </a:t>
            </a:r>
            <a:r>
              <a:rPr lang="en-IN" sz="1200" b="1" dirty="0">
                <a:latin typeface="Manrope SemiBold" panose="020B0604020202020204" charset="0"/>
              </a:rPr>
              <a:t>20+ Indian languages</a:t>
            </a:r>
            <a:r>
              <a:rPr lang="en-IN" sz="1200" dirty="0">
                <a:latin typeface="Manrope SemiBold" panose="020B0604020202020204" charset="0"/>
              </a:rPr>
              <a:t> via the Bhasha-Chat RAG widget, breaking the English barrier.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IN" sz="1200" dirty="0">
              <a:latin typeface="Manrope SemiBold" panose="020B060402020202020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dirty="0">
                <a:latin typeface="Manrope SemiBold" panose="020B0604020202020204" charset="0"/>
              </a:rPr>
              <a:t>It solves </a:t>
            </a:r>
            <a:r>
              <a:rPr lang="en-IN" sz="1200" b="1" dirty="0">
                <a:latin typeface="Manrope SemiBold" panose="020B0604020202020204" charset="0"/>
              </a:rPr>
              <a:t>"Onboarding Inefficiency"</a:t>
            </a:r>
            <a:r>
              <a:rPr lang="en-IN" sz="1200" dirty="0">
                <a:latin typeface="Manrope SemiBold" panose="020B0604020202020204" charset="0"/>
              </a:rPr>
              <a:t> by using </a:t>
            </a:r>
            <a:r>
              <a:rPr lang="en-IN" sz="1200" b="1" dirty="0">
                <a:latin typeface="Manrope SemiBold" panose="020B0604020202020204" charset="0"/>
              </a:rPr>
              <a:t>Skill-Adaptive Content</a:t>
            </a:r>
            <a:r>
              <a:rPr lang="en-IN" sz="1200" dirty="0">
                <a:latin typeface="Manrope SemiBold" panose="020B0604020202020204" charset="0"/>
              </a:rPr>
              <a:t> that personalizes documentation depth, reducing new hire ramp-up time from 3–4 weeks to just 3–5 days (80% reduction).</a:t>
            </a:r>
          </a:p>
          <a:p>
            <a:endParaRPr lang="en-IN" sz="1200" dirty="0">
              <a:solidFill>
                <a:srgbClr val="202729"/>
              </a:solidFill>
              <a:latin typeface="Manrope SemiBold" panose="020B0604020202020204" charset="0"/>
              <a:ea typeface="Manrope SemiBold"/>
              <a:cs typeface="Manrope SemiBold"/>
              <a:sym typeface="Manrope SemiBold"/>
            </a:endParaRPr>
          </a:p>
          <a:p>
            <a:endParaRPr sz="1200" dirty="0">
              <a:solidFill>
                <a:srgbClr val="202729"/>
              </a:solidFill>
              <a:latin typeface="Manrope SemiBold" panose="020B0604020202020204" charset="0"/>
              <a:ea typeface="Manrope SemiBold"/>
              <a:cs typeface="Manrope SemiBold"/>
              <a:sym typeface="Manrope SemiBold"/>
            </a:endParaRPr>
          </a:p>
          <a:p>
            <a: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 panose="020B0604020202020204" charset="0"/>
                <a:ea typeface="Manrope SemiBold"/>
                <a:cs typeface="Manrope SemiBold"/>
                <a:sym typeface="Manrope SemiBold"/>
              </a:rPr>
              <a:t>USP of the proposed solution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b="1" dirty="0">
                <a:latin typeface="Manrope SemiBold" panose="020B0604020202020204" charset="0"/>
              </a:rPr>
              <a:t>The Bharat Explainer:</a:t>
            </a:r>
            <a:r>
              <a:rPr lang="en-IN" sz="1200" dirty="0">
                <a:latin typeface="Manrope SemiBold" panose="020B0604020202020204" charset="0"/>
              </a:rPr>
              <a:t> The first tool to generate 60-second </a:t>
            </a:r>
            <a:r>
              <a:rPr lang="en-IN" sz="1200" b="1" dirty="0">
                <a:latin typeface="Manrope SemiBold" panose="020B0604020202020204" charset="0"/>
              </a:rPr>
              <a:t>neural audio walkthroughs</a:t>
            </a:r>
            <a:r>
              <a:rPr lang="en-IN" sz="1200" dirty="0">
                <a:latin typeface="Manrope SemiBold" panose="020B0604020202020204" charset="0"/>
              </a:rPr>
              <a:t> of complex code logic in 10+ Indic languages (Hindi, Marathi, Tamil, etc.) for deeper comprehension.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IN" sz="1200" dirty="0">
              <a:latin typeface="Manrope SemiBold" panose="020B060402020202020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dirty="0">
                <a:latin typeface="Manrope SemiBold" panose="020B0604020202020204" charset="0"/>
              </a:rPr>
              <a:t> </a:t>
            </a:r>
            <a:r>
              <a:rPr lang="en-IN" sz="1200" b="1" dirty="0">
                <a:latin typeface="Manrope SemiBold" panose="020B0604020202020204" charset="0"/>
              </a:rPr>
              <a:t>Suraksha-Audit:</a:t>
            </a:r>
            <a:r>
              <a:rPr lang="en-IN" sz="1200" dirty="0">
                <a:latin typeface="Manrope SemiBold" panose="020B0604020202020204" charset="0"/>
              </a:rPr>
              <a:t> An integrated scanner that doesn't just document code but proactively identifies vulnerabilities and writes </a:t>
            </a:r>
            <a:r>
              <a:rPr lang="en-IN" sz="1200" b="1" dirty="0">
                <a:latin typeface="Manrope SemiBold" panose="020B0604020202020204" charset="0"/>
              </a:rPr>
              <a:t>Security Advisories</a:t>
            </a:r>
            <a:r>
              <a:rPr lang="en-IN" sz="1200" dirty="0">
                <a:latin typeface="Manrope SemiBold" panose="020B0604020202020204" charset="0"/>
              </a:rPr>
              <a:t> automatically.</a:t>
            </a:r>
          </a:p>
          <a:p>
            <a:r>
              <a:rPr lang="en-IN" sz="1200" dirty="0">
                <a:latin typeface="Manrope SemiBold" panose="020B0604020202020204" charset="0"/>
              </a:rPr>
              <a:t> </a:t>
            </a:r>
          </a:p>
          <a:p>
            <a: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endParaRPr lang="en-GB" sz="1200" dirty="0">
              <a:solidFill>
                <a:srgbClr val="202729"/>
              </a:solidFill>
              <a:latin typeface="Manrope SemiBold" panose="020B0604020202020204" charset="0"/>
              <a:ea typeface="Manrope SemiBold"/>
              <a:cs typeface="Manrope SemiBold"/>
              <a:sym typeface="Manrope SemiBold"/>
            </a:endParaRPr>
          </a:p>
          <a:p>
            <a: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endParaRPr sz="1200" dirty="0">
              <a:solidFill>
                <a:srgbClr val="202729"/>
              </a:solidFill>
              <a:latin typeface="Manrope SemiBold" panose="020B0604020202020204" charset="0"/>
              <a:ea typeface="Manrope SemiBold"/>
              <a:cs typeface="Manrope SemiBold"/>
              <a:sym typeface="Manrope SemiBold"/>
            </a:endParaRPr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E81C094-6829-8E3C-B909-5D682C7E19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352376"/>
              </p:ext>
            </p:extLst>
          </p:nvPr>
        </p:nvGraphicFramePr>
        <p:xfrm>
          <a:off x="4427630" y="515638"/>
          <a:ext cx="4936385" cy="4496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D32856D-1A44-005E-B0BA-DA2C76BE3F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755" y="670545"/>
            <a:ext cx="4468872" cy="4186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B942C3-EC65-5FBD-A700-4CD111650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5649"/>
            <a:ext cx="4874508" cy="4190910"/>
          </a:xfrm>
          <a:prstGeom prst="rect">
            <a:avLst/>
          </a:prstGeom>
        </p:spPr>
      </p:pic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877606" y="825022"/>
            <a:ext cx="5266394" cy="419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anrope SemiBold" panose="020B0604020202020204" charset="0"/>
              </a:rPr>
              <a:t>Trigger:</a:t>
            </a:r>
            <a:r>
              <a:rPr lang="en-IN" dirty="0">
                <a:latin typeface="Manrope SemiBold" panose="020B0604020202020204" charset="0"/>
              </a:rPr>
              <a:t> The process initiates instantly via a </a:t>
            </a:r>
            <a:r>
              <a:rPr lang="en-IN" b="1" dirty="0">
                <a:latin typeface="Manrope SemiBold" panose="020B0604020202020204" charset="0"/>
              </a:rPr>
              <a:t>GitHub Webhook</a:t>
            </a:r>
            <a:r>
              <a:rPr lang="en-IN" dirty="0">
                <a:latin typeface="Manrope SemiBold" panose="020B0604020202020204" charset="0"/>
              </a:rPr>
              <a:t> whenever code is pushed.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anrope SemiBold" panose="020B0604020202020204" charset="0"/>
              </a:rPr>
              <a:t>Orchestration:</a:t>
            </a:r>
            <a:r>
              <a:rPr lang="en-IN" dirty="0">
                <a:latin typeface="Manrope SemiBold" panose="020B0604020202020204" charset="0"/>
              </a:rPr>
              <a:t> </a:t>
            </a:r>
            <a:r>
              <a:rPr lang="en-IN" b="1" dirty="0">
                <a:latin typeface="Manrope SemiBold" panose="020B0604020202020204" charset="0"/>
              </a:rPr>
              <a:t>AWS </a:t>
            </a:r>
            <a:r>
              <a:rPr lang="en-IN" b="1" dirty="0" err="1">
                <a:latin typeface="Manrope SemiBold" panose="020B0604020202020204" charset="0"/>
              </a:rPr>
              <a:t>EventBridge</a:t>
            </a:r>
            <a:r>
              <a:rPr lang="en-IN" dirty="0">
                <a:latin typeface="Manrope SemiBold" panose="020B0604020202020204" charset="0"/>
              </a:rPr>
              <a:t> receives the event and triggers three parallel Lambda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anrope SemiBold" panose="020B0604020202020204" charset="0"/>
              </a:rPr>
              <a:t>Parallel Processing:</a:t>
            </a:r>
            <a:endParaRPr lang="en-IN" dirty="0">
              <a:latin typeface="Manrope SemiBold" panose="020B060402020202020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200" b="1" dirty="0">
                <a:latin typeface="Manrope SemiBold" panose="020B0604020202020204" charset="0"/>
              </a:rPr>
              <a:t>Wiki Builder:</a:t>
            </a:r>
            <a:r>
              <a:rPr lang="en-IN" sz="1200" dirty="0">
                <a:latin typeface="Manrope SemiBold" panose="020B0604020202020204" charset="0"/>
              </a:rPr>
              <a:t> Generates documentation and live architecture diagrams.</a:t>
            </a:r>
          </a:p>
          <a:p>
            <a:pPr marL="342900" lvl="0" indent="-342900">
              <a:buFont typeface="+mj-lt"/>
              <a:buAutoNum type="arabicPeriod"/>
            </a:pPr>
            <a:endParaRPr lang="en-IN" sz="1200" dirty="0">
              <a:latin typeface="Manrope SemiBold" panose="020B060402020202020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200" b="1" dirty="0">
                <a:latin typeface="Manrope SemiBold" panose="020B0604020202020204" charset="0"/>
              </a:rPr>
              <a:t>Security Scanner:</a:t>
            </a:r>
            <a:r>
              <a:rPr lang="en-IN" sz="1200" dirty="0">
                <a:latin typeface="Manrope SemiBold" panose="020B0604020202020204" charset="0"/>
              </a:rPr>
              <a:t> Runs </a:t>
            </a:r>
            <a:r>
              <a:rPr lang="en-IN" sz="1200" dirty="0" err="1">
                <a:latin typeface="Manrope SemiBold" panose="020B0604020202020204" charset="0"/>
              </a:rPr>
              <a:t>CodeGuru</a:t>
            </a:r>
            <a:r>
              <a:rPr lang="en-IN" sz="1200" dirty="0">
                <a:latin typeface="Manrope SemiBold" panose="020B0604020202020204" charset="0"/>
              </a:rPr>
              <a:t> scans and identifies vulnerabilities.</a:t>
            </a:r>
          </a:p>
          <a:p>
            <a:pPr marL="342900" lvl="0" indent="-342900">
              <a:buFont typeface="+mj-lt"/>
              <a:buAutoNum type="arabicPeriod"/>
            </a:pPr>
            <a:endParaRPr lang="en-IN" sz="1200" dirty="0">
              <a:latin typeface="Manrope SemiBold" panose="020B060402020202020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200" b="1" dirty="0">
                <a:latin typeface="Manrope SemiBold" panose="020B0604020202020204" charset="0"/>
              </a:rPr>
              <a:t>Audio Generator:</a:t>
            </a:r>
            <a:r>
              <a:rPr lang="en-IN" sz="1200" dirty="0">
                <a:latin typeface="Manrope SemiBold" panose="020B0604020202020204" charset="0"/>
              </a:rPr>
              <a:t> Synthesizes neural audio walkthroughs using Amazon Polly.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anrope SemiBold" panose="020B0604020202020204" charset="0"/>
              </a:rPr>
              <a:t>Delivery:</a:t>
            </a:r>
            <a:r>
              <a:rPr lang="en-IN" dirty="0">
                <a:latin typeface="Manrope SemiBold" panose="020B0604020202020204" charset="0"/>
              </a:rPr>
              <a:t> All artifacts are stored in </a:t>
            </a:r>
            <a:r>
              <a:rPr lang="en-IN" b="1" dirty="0">
                <a:latin typeface="Manrope SemiBold" panose="020B0604020202020204" charset="0"/>
              </a:rPr>
              <a:t>Amazon S3</a:t>
            </a:r>
            <a:r>
              <a:rPr lang="en-IN" dirty="0">
                <a:latin typeface="Manrope SemiBold" panose="020B0604020202020204" charset="0"/>
              </a:rPr>
              <a:t> and delivered globally via </a:t>
            </a:r>
            <a:r>
              <a:rPr lang="en-IN" b="1" dirty="0">
                <a:latin typeface="Manrope SemiBold" panose="020B0604020202020204" charset="0"/>
              </a:rPr>
              <a:t>CloudFront</a:t>
            </a:r>
            <a:r>
              <a:rPr lang="en-IN" dirty="0">
                <a:latin typeface="Manrope SemiBold" panose="020B0604020202020204" charset="0"/>
              </a:rPr>
              <a:t> to the user dashboard.</a:t>
            </a:r>
          </a:p>
          <a:p>
            <a:r>
              <a:rPr lang="en-IN" dirty="0">
                <a:latin typeface="Manrope SemiBold" panose="020B0604020202020204" charset="0"/>
              </a:rPr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297949" y="884175"/>
            <a:ext cx="4762189" cy="413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latin typeface="Manrope SemiBold" panose="020B0604020202020204" charset="0"/>
              </a:rPr>
              <a:t>Unified Dashboard:</a:t>
            </a:r>
            <a:r>
              <a:rPr lang="en-IN" sz="1500" dirty="0">
                <a:latin typeface="Manrope SemiBold" panose="020B0604020202020204" charset="0"/>
              </a:rPr>
              <a:t> A single-page React application containing the Wiki, Interactive Diagrams, and Audio Player in one 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latin typeface="Manrope SemiBold" panose="020B0604020202020204" charset="0"/>
              </a:rPr>
              <a:t>Smart Header:</a:t>
            </a:r>
            <a:r>
              <a:rPr lang="en-IN" sz="1500" dirty="0">
                <a:latin typeface="Manrope SemiBold" panose="020B0604020202020204" charset="0"/>
              </a:rPr>
              <a:t> Contains the </a:t>
            </a:r>
            <a:r>
              <a:rPr lang="en-IN" sz="1500" b="1" dirty="0">
                <a:latin typeface="Manrope SemiBold" panose="020B0604020202020204" charset="0"/>
              </a:rPr>
              <a:t>"Skill Level Toggle"</a:t>
            </a:r>
            <a:r>
              <a:rPr lang="en-IN" sz="1500" dirty="0">
                <a:latin typeface="Manrope SemiBold" panose="020B0604020202020204" charset="0"/>
              </a:rPr>
              <a:t> (Junior/Senior) and </a:t>
            </a:r>
            <a:r>
              <a:rPr lang="en-IN" sz="1500" b="1" dirty="0">
                <a:latin typeface="Manrope SemiBold" panose="020B0604020202020204" charset="0"/>
              </a:rPr>
              <a:t>Language Selector</a:t>
            </a:r>
            <a:r>
              <a:rPr lang="en-IN" sz="1500" dirty="0">
                <a:latin typeface="Manrope SemiBold" panose="020B0604020202020204" charset="0"/>
              </a:rPr>
              <a:t> for instant personalization.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latin typeface="Manrope SemiBold" panose="020B0604020202020204" charset="0"/>
              </a:rPr>
              <a:t>Bhasha-Chat Widget:</a:t>
            </a:r>
            <a:r>
              <a:rPr lang="en-IN" sz="1500" dirty="0">
                <a:latin typeface="Manrope SemiBold" panose="020B0604020202020204" charset="0"/>
              </a:rPr>
              <a:t> A collapsible, floating widget in the bottom-right corner for real-time, localized Q&amp;A without leaving the documentation.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latin typeface="Manrope SemiBold" panose="020B0604020202020204" charset="0"/>
              </a:rPr>
              <a:t>Audio Sidebar:</a:t>
            </a:r>
            <a:r>
              <a:rPr lang="en-IN" sz="1500" dirty="0">
                <a:latin typeface="Manrope SemiBold" panose="020B0604020202020204" charset="0"/>
              </a:rPr>
              <a:t> Dedicated controls for playback speed (0.75x - 1.5x) and language selection for the neural audio walkthroughs.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Manrope SemiBold" panose="020B06040202020202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2AA8E6-85AD-33CA-3FE8-D19DC2543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105" y="624407"/>
            <a:ext cx="3382593" cy="4394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B4FC9-AAB1-CD4F-B127-151D40900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8" y="610349"/>
            <a:ext cx="7631322" cy="3669601"/>
          </a:xfrm>
          <a:prstGeom prst="rect">
            <a:avLst/>
          </a:prstGeom>
        </p:spPr>
      </p:pic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2382E0C-4DE2-7950-F012-8097F2B9C2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4124530"/>
              </p:ext>
            </p:extLst>
          </p:nvPr>
        </p:nvGraphicFramePr>
        <p:xfrm>
          <a:off x="378135" y="3898719"/>
          <a:ext cx="2440692" cy="1015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7C783FE-D5F5-CD5A-521B-99AAD61755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8391932"/>
              </p:ext>
            </p:extLst>
          </p:nvPr>
        </p:nvGraphicFramePr>
        <p:xfrm>
          <a:off x="2964570" y="3870402"/>
          <a:ext cx="2789010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26DD18A-1E58-D327-E097-867989634E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5566379"/>
              </p:ext>
            </p:extLst>
          </p:nvPr>
        </p:nvGraphicFramePr>
        <p:xfrm>
          <a:off x="5899323" y="3885456"/>
          <a:ext cx="2866542" cy="1015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8575" y="622919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D6F2C3-3ED2-F849-2E1A-DB99BBC51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75" y="1173182"/>
            <a:ext cx="895149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Generative AI &amp; ML: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 SemiBol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Amazon Bedrock: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 Claude 3.5 Sonnet (Reasoning) &amp; Titan Embeddings (Vector Search).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Amazon Polly: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 Neural Text-to-Speech for localized audio.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Amazon Translate: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 Real-time multilingual translation.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 SemiBol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Serverless Compute &amp; Integration: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 SemiBol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AWS Lambda: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 Serverless function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Amazon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EventBridge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 Event-driven orchestration.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 SemiBol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Data &amp; Storage: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 SemiBol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Amazon OpenSearch Serverless: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 High-performance vector database for RAG.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Amazon DynamoDB: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 User profiles and learning paths.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Amazon S3: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 Object storage for documentation artifacts and audio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 SemiBol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Security &amp; Frontend: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 SemiBol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Amazon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CodeGuru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 Security: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 Automated vulnerability scanning.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React.js &amp;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Docusaurus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anrope SemiBold" panose="020B0604020202020204" charset="0"/>
              </a:rPr>
              <a:t> Frontend UI and static site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 SemiBold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227018" y="6103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50932A-5FC2-3020-9DE7-388AAD8A7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56" y="1361670"/>
            <a:ext cx="4805620" cy="29182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F5ACA9-3755-5D5C-A360-B21D2A92A40C}"/>
              </a:ext>
            </a:extLst>
          </p:cNvPr>
          <p:cNvSpPr txBox="1"/>
          <p:nvPr/>
        </p:nvSpPr>
        <p:spPr>
          <a:xfrm>
            <a:off x="5046114" y="1055275"/>
            <a:ext cx="387760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>
              <a:latin typeface="Manrope SemiBold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SemiBold" panose="020B0604020202020204" charset="0"/>
              </a:rPr>
              <a:t>AI Services (~62%):</a:t>
            </a:r>
            <a:r>
              <a:rPr lang="en-IN" sz="1200" dirty="0">
                <a:latin typeface="Manrope SemiBold" panose="020B0604020202020204" charset="0"/>
              </a:rPr>
              <a:t> </a:t>
            </a:r>
            <a:r>
              <a:rPr lang="en-IN" sz="1200" b="1" dirty="0">
                <a:latin typeface="Manrope SemiBold" panose="020B0604020202020204" charset="0"/>
              </a:rPr>
              <a:t>$17,000</a:t>
            </a:r>
            <a:r>
              <a:rPr lang="en-IN" sz="1200" dirty="0">
                <a:latin typeface="Manrope SemiBold" panose="020B0604020202020204" charset="0"/>
              </a:rPr>
              <a:t> – Primarily Amazon Bedrock (Claude 3.5 Sonnet) and Polly for high-quality reasoning and neural audio.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200" dirty="0">
              <a:latin typeface="Manrope SemiBold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SemiBold" panose="020B0604020202020204" charset="0"/>
              </a:rPr>
              <a:t>Data &amp; Storage (~16%):</a:t>
            </a:r>
            <a:r>
              <a:rPr lang="en-IN" sz="1200" dirty="0">
                <a:latin typeface="Manrope SemiBold" panose="020B0604020202020204" charset="0"/>
              </a:rPr>
              <a:t> </a:t>
            </a:r>
            <a:r>
              <a:rPr lang="en-IN" sz="1200" b="1" dirty="0">
                <a:latin typeface="Manrope SemiBold" panose="020B0604020202020204" charset="0"/>
              </a:rPr>
              <a:t>$4,500</a:t>
            </a:r>
            <a:r>
              <a:rPr lang="en-IN" sz="1200" dirty="0">
                <a:latin typeface="Manrope SemiBold" panose="020B0604020202020204" charset="0"/>
              </a:rPr>
              <a:t> – OpenSearch Serverless for vector RAG and DynamoDB for user profiles.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200" dirty="0">
              <a:latin typeface="Manrope SemiBold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SemiBold" panose="020B0604020202020204" charset="0"/>
              </a:rPr>
              <a:t>Compute (~13%):</a:t>
            </a:r>
            <a:r>
              <a:rPr lang="en-IN" sz="1200" dirty="0">
                <a:latin typeface="Manrope SemiBold" panose="020B0604020202020204" charset="0"/>
              </a:rPr>
              <a:t> </a:t>
            </a:r>
            <a:r>
              <a:rPr lang="en-IN" sz="1200" b="1" dirty="0">
                <a:latin typeface="Manrope SemiBold" panose="020B0604020202020204" charset="0"/>
              </a:rPr>
              <a:t>$3,500</a:t>
            </a:r>
            <a:r>
              <a:rPr lang="en-IN" sz="1200" dirty="0">
                <a:latin typeface="Manrope SemiBold" panose="020B0604020202020204" charset="0"/>
              </a:rPr>
              <a:t> – AWS Lambda functions for event-driven processing.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200" dirty="0">
              <a:latin typeface="Manrope SemiBold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>
                <a:latin typeface="Manrope SemiBold" panose="020B0604020202020204" charset="0"/>
              </a:rPr>
              <a:t>Optimization Strategy:</a:t>
            </a:r>
            <a:r>
              <a:rPr lang="en-IN" sz="1200" dirty="0">
                <a:latin typeface="Manrope SemiBold" panose="020B0604020202020204" charset="0"/>
              </a:rPr>
              <a:t> Projected to reduce costs by </a:t>
            </a:r>
            <a:r>
              <a:rPr lang="en-IN" sz="1200" b="1" dirty="0">
                <a:latin typeface="Manrope SemiBold" panose="020B0604020202020204" charset="0"/>
              </a:rPr>
              <a:t>32%</a:t>
            </a:r>
            <a:r>
              <a:rPr lang="en-IN" sz="1200" dirty="0">
                <a:latin typeface="Manrope SemiBold" panose="020B0604020202020204" charset="0"/>
              </a:rPr>
              <a:t> (to ~$18,750/month) within 6 months by implementing aggressive caching and AWS Savings Plans.</a:t>
            </a:r>
          </a:p>
          <a:p>
            <a:r>
              <a:rPr lang="en-IN" sz="1200" dirty="0">
                <a:latin typeface="Manrope SemiBold" panose="020B0604020202020204" charset="0"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>
              <a:latin typeface="Manrope SemiBold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8A7446-B5B4-1FCE-179D-F909FD48E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19" y="2079745"/>
            <a:ext cx="8749543" cy="2957189"/>
          </a:xfrm>
          <a:prstGeom prst="rect">
            <a:avLst/>
          </a:prstGeom>
        </p:spPr>
      </p:pic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735646"/>
            <a:ext cx="8756673" cy="2688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Manrope SemiBold" panose="020B0604020202020204" charset="0"/>
              </a:rPr>
              <a:t>Carbon-Aware Architecture: Integrates with the AWS Customer Carbon Footprint Tool to track real-time emissions and optimize regional workload distribution (e.g., routing traffic to regions with higher renewable energy availability).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Manrope SemiBold" panose="020B0604020202020204" charset="0"/>
              </a:rPr>
              <a:t>Eco-Friendly Compute: Utilizes ARM-based AWS Graviton processors (20% more efficient) and schedules heavy batch jobs (like audio generation) during off-peak, low-carbon intensity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>
              <a:latin typeface="Manrope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Manrope SemiBold" panose="020B0604020202020204" charset="0"/>
              </a:rPr>
              <a:t>Sustainability Goals: Targeting &lt; 1.5 kg CO2e per user/month and achieving 40% renewable energy usage in the first year of operation.</a:t>
            </a:r>
          </a:p>
          <a:p>
            <a:endParaRPr lang="en-IN" sz="1200" dirty="0">
              <a:latin typeface="Manrope SemiBold" panose="020B0604020202020204" charset="0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</a:pPr>
            <a:endParaRPr sz="1200" dirty="0">
              <a:solidFill>
                <a:srgbClr val="434343"/>
              </a:solidFill>
              <a:latin typeface="Manrope SemiBold" panose="020B0604020202020204" charset="0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Microsoft Office PowerPoint</Application>
  <PresentationFormat>On-screen Show (16:9)</PresentationFormat>
  <Paragraphs>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Wingdings</vt:lpstr>
      <vt:lpstr>Manrope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Sarthak Deodhar</dc:creator>
  <cp:lastModifiedBy>Sarthak Deodhar</cp:lastModifiedBy>
  <cp:revision>1</cp:revision>
  <dcterms:modified xsi:type="dcterms:W3CDTF">2026-02-03T14:35:23Z</dcterms:modified>
</cp:coreProperties>
</file>